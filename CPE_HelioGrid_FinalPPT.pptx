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handoutMasterIdLst>
    <p:handoutMasterId r:id="rId66"/>
  </p:handoutMasterIdLst>
  <p:sldIdLst>
    <p:sldId id="256" r:id="rId2"/>
    <p:sldId id="338" r:id="rId3"/>
    <p:sldId id="407" r:id="rId4"/>
    <p:sldId id="395" r:id="rId5"/>
    <p:sldId id="396" r:id="rId6"/>
    <p:sldId id="398" r:id="rId7"/>
    <p:sldId id="456" r:id="rId8"/>
    <p:sldId id="457" r:id="rId9"/>
    <p:sldId id="458" r:id="rId10"/>
    <p:sldId id="459" r:id="rId11"/>
    <p:sldId id="429" r:id="rId12"/>
    <p:sldId id="461" r:id="rId13"/>
    <p:sldId id="460" r:id="rId14"/>
    <p:sldId id="448" r:id="rId15"/>
    <p:sldId id="430" r:id="rId16"/>
    <p:sldId id="405" r:id="rId17"/>
    <p:sldId id="449" r:id="rId18"/>
    <p:sldId id="450" r:id="rId19"/>
    <p:sldId id="452" r:id="rId20"/>
    <p:sldId id="432" r:id="rId21"/>
    <p:sldId id="462" r:id="rId22"/>
    <p:sldId id="463" r:id="rId23"/>
    <p:sldId id="451" r:id="rId24"/>
    <p:sldId id="464" r:id="rId25"/>
    <p:sldId id="433" r:id="rId26"/>
    <p:sldId id="465" r:id="rId27"/>
    <p:sldId id="466" r:id="rId28"/>
    <p:sldId id="467" r:id="rId29"/>
    <p:sldId id="468" r:id="rId30"/>
    <p:sldId id="469" r:id="rId31"/>
    <p:sldId id="470" r:id="rId32"/>
    <p:sldId id="472" r:id="rId33"/>
    <p:sldId id="471" r:id="rId34"/>
    <p:sldId id="473" r:id="rId35"/>
    <p:sldId id="474" r:id="rId36"/>
    <p:sldId id="475" r:id="rId37"/>
    <p:sldId id="476" r:id="rId38"/>
    <p:sldId id="477" r:id="rId39"/>
    <p:sldId id="478" r:id="rId40"/>
    <p:sldId id="479" r:id="rId41"/>
    <p:sldId id="480" r:id="rId42"/>
    <p:sldId id="481" r:id="rId43"/>
    <p:sldId id="482" r:id="rId44"/>
    <p:sldId id="483" r:id="rId45"/>
    <p:sldId id="484" r:id="rId46"/>
    <p:sldId id="487" r:id="rId47"/>
    <p:sldId id="485" r:id="rId48"/>
    <p:sldId id="488" r:id="rId49"/>
    <p:sldId id="486" r:id="rId50"/>
    <p:sldId id="489" r:id="rId51"/>
    <p:sldId id="453" r:id="rId52"/>
    <p:sldId id="490" r:id="rId53"/>
    <p:sldId id="492" r:id="rId54"/>
    <p:sldId id="428" r:id="rId55"/>
    <p:sldId id="435" r:id="rId56"/>
    <p:sldId id="436" r:id="rId57"/>
    <p:sldId id="437" r:id="rId58"/>
    <p:sldId id="494" r:id="rId59"/>
    <p:sldId id="498" r:id="rId60"/>
    <p:sldId id="497" r:id="rId61"/>
    <p:sldId id="496" r:id="rId62"/>
    <p:sldId id="495" r:id="rId63"/>
    <p:sldId id="493" r:id="rId64"/>
  </p:sldIdLst>
  <p:sldSz cx="12192000" cy="6858000"/>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Odo Giovanni Koji"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784"/>
    <a:srgbClr val="3A5621"/>
    <a:srgbClr val="63962D"/>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273" autoAdjust="0"/>
    <p:restoredTop sz="94660"/>
  </p:normalViewPr>
  <p:slideViewPr>
    <p:cSldViewPr snapToGrid="0">
      <p:cViewPr varScale="1">
        <p:scale>
          <a:sx n="83" d="100"/>
          <a:sy n="83" d="100"/>
        </p:scale>
        <p:origin x="48" y="67"/>
      </p:cViewPr>
      <p:guideLst/>
    </p:cSldViewPr>
  </p:slideViewPr>
  <p:notesTextViewPr>
    <p:cViewPr>
      <p:scale>
        <a:sx n="1" d="1"/>
        <a:sy n="1" d="1"/>
      </p:scale>
      <p:origin x="0" y="0"/>
    </p:cViewPr>
  </p:notesTextViewPr>
  <p:notesViewPr>
    <p:cSldViewPr snapToGrid="0">
      <p:cViewPr varScale="1">
        <p:scale>
          <a:sx n="83" d="100"/>
          <a:sy n="83" d="100"/>
        </p:scale>
        <p:origin x="3852"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6D39CF-F4D5-432B-8863-3BE81A2AF4B7}"/>
              </a:ext>
            </a:extLst>
          </p:cNvPr>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en-PH" dirty="0"/>
          </a:p>
        </p:txBody>
      </p:sp>
      <p:sp>
        <p:nvSpPr>
          <p:cNvPr id="3" name="Date Placeholder 2">
            <a:extLst>
              <a:ext uri="{FF2B5EF4-FFF2-40B4-BE49-F238E27FC236}">
                <a16:creationId xmlns:a16="http://schemas.microsoft.com/office/drawing/2014/main" id="{C07F427C-01D3-4577-B4FE-6702B67A543A}"/>
              </a:ext>
            </a:extLst>
          </p:cNvPr>
          <p:cNvSpPr>
            <a:spLocks noGrp="1"/>
          </p:cNvSpPr>
          <p:nvPr>
            <p:ph type="dt" sz="quarter" idx="1"/>
          </p:nvPr>
        </p:nvSpPr>
        <p:spPr>
          <a:xfrm>
            <a:off x="4021294" y="0"/>
            <a:ext cx="3076363" cy="513508"/>
          </a:xfrm>
          <a:prstGeom prst="rect">
            <a:avLst/>
          </a:prstGeom>
        </p:spPr>
        <p:txBody>
          <a:bodyPr vert="horz" lIns="99048" tIns="49524" rIns="99048" bIns="49524" rtlCol="0"/>
          <a:lstStyle>
            <a:lvl1pPr algn="r">
              <a:defRPr sz="1300"/>
            </a:lvl1pPr>
          </a:lstStyle>
          <a:p>
            <a:fld id="{FBE86CF3-4272-448E-BAC2-57863C7BED56}" type="datetimeFigureOut">
              <a:rPr lang="en-PH" smtClean="0"/>
              <a:t>5/19/2026</a:t>
            </a:fld>
            <a:endParaRPr lang="en-PH" dirty="0"/>
          </a:p>
        </p:txBody>
      </p:sp>
      <p:sp>
        <p:nvSpPr>
          <p:cNvPr id="4" name="Footer Placeholder 3">
            <a:extLst>
              <a:ext uri="{FF2B5EF4-FFF2-40B4-BE49-F238E27FC236}">
                <a16:creationId xmlns:a16="http://schemas.microsoft.com/office/drawing/2014/main" id="{E934817C-55CA-47D1-A5FB-9490F9D145E9}"/>
              </a:ext>
            </a:extLst>
          </p:cNvPr>
          <p:cNvSpPr>
            <a:spLocks noGrp="1"/>
          </p:cNvSpPr>
          <p:nvPr>
            <p:ph type="ftr" sz="quarter" idx="2"/>
          </p:nvPr>
        </p:nvSpPr>
        <p:spPr>
          <a:xfrm>
            <a:off x="0" y="9721107"/>
            <a:ext cx="3076363" cy="513507"/>
          </a:xfrm>
          <a:prstGeom prst="rect">
            <a:avLst/>
          </a:prstGeom>
        </p:spPr>
        <p:txBody>
          <a:bodyPr vert="horz" lIns="99048" tIns="49524" rIns="99048" bIns="49524" rtlCol="0" anchor="b"/>
          <a:lstStyle>
            <a:lvl1pPr algn="l">
              <a:defRPr sz="1300"/>
            </a:lvl1pPr>
          </a:lstStyle>
          <a:p>
            <a:endParaRPr lang="en-PH" dirty="0"/>
          </a:p>
        </p:txBody>
      </p:sp>
      <p:sp>
        <p:nvSpPr>
          <p:cNvPr id="5" name="Slide Number Placeholder 4">
            <a:extLst>
              <a:ext uri="{FF2B5EF4-FFF2-40B4-BE49-F238E27FC236}">
                <a16:creationId xmlns:a16="http://schemas.microsoft.com/office/drawing/2014/main" id="{D3B97585-2C90-4D32-B769-0748F2D03F20}"/>
              </a:ext>
            </a:extLst>
          </p:cNvPr>
          <p:cNvSpPr>
            <a:spLocks noGrp="1"/>
          </p:cNvSpPr>
          <p:nvPr>
            <p:ph type="sldNum" sz="quarter" idx="3"/>
          </p:nvPr>
        </p:nvSpPr>
        <p:spPr>
          <a:xfrm>
            <a:off x="4021294" y="9721107"/>
            <a:ext cx="3076363" cy="513507"/>
          </a:xfrm>
          <a:prstGeom prst="rect">
            <a:avLst/>
          </a:prstGeom>
        </p:spPr>
        <p:txBody>
          <a:bodyPr vert="horz" lIns="99048" tIns="49524" rIns="99048" bIns="49524" rtlCol="0" anchor="b"/>
          <a:lstStyle>
            <a:lvl1pPr algn="r">
              <a:defRPr sz="1300"/>
            </a:lvl1pPr>
          </a:lstStyle>
          <a:p>
            <a:fld id="{1938290E-365B-478C-A97B-CD9B8D7C77C6}" type="slidenum">
              <a:rPr lang="en-PH" smtClean="0"/>
              <a:t>‹#›</a:t>
            </a:fld>
            <a:endParaRPr lang="en-PH" dirty="0"/>
          </a:p>
        </p:txBody>
      </p:sp>
    </p:spTree>
    <p:extLst>
      <p:ext uri="{BB962C8B-B14F-4D97-AF65-F5344CB8AC3E}">
        <p14:creationId xmlns:p14="http://schemas.microsoft.com/office/powerpoint/2010/main" val="27297697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PH" dirty="0"/>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D579231F-27F1-4583-A10F-2FF4558974F5}" type="datetimeFigureOut">
              <a:rPr lang="en-PH" smtClean="0"/>
              <a:t>5/19/2026</a:t>
            </a:fld>
            <a:endParaRPr lang="en-PH" dirty="0"/>
          </a:p>
        </p:txBody>
      </p:sp>
      <p:sp>
        <p:nvSpPr>
          <p:cNvPr id="4" name="Slide Image Placehold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endParaRPr lang="en-PH" dirty="0"/>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PH" dirty="0"/>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6DF64D47-5110-4704-8500-A101C8B36E81}" type="slidenum">
              <a:rPr lang="en-PH" smtClean="0"/>
              <a:t>‹#›</a:t>
            </a:fld>
            <a:endParaRPr lang="en-PH" dirty="0"/>
          </a:p>
        </p:txBody>
      </p:sp>
    </p:spTree>
    <p:extLst>
      <p:ext uri="{BB962C8B-B14F-4D97-AF65-F5344CB8AC3E}">
        <p14:creationId xmlns:p14="http://schemas.microsoft.com/office/powerpoint/2010/main" val="2274145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70755-587E-47DA-92FF-F00102A0B1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CC9C411E-25A5-4F45-8CCC-9D961DD955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77AF6A4F-F284-4BF9-BD49-F1E17B2A78FF}"/>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5" name="Footer Placeholder 4">
            <a:extLst>
              <a:ext uri="{FF2B5EF4-FFF2-40B4-BE49-F238E27FC236}">
                <a16:creationId xmlns:a16="http://schemas.microsoft.com/office/drawing/2014/main" id="{ACE3FA87-D136-4671-8AE2-1D76C20D9469}"/>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28F99822-A441-48FB-B060-E67BCB531FB1}"/>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423545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E540B-DB02-423F-B752-764F38E252BB}"/>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09556B4C-4C83-4958-A38B-F3A66FB64E3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30B1999-C821-4819-A3FD-AA8661A1376B}"/>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5" name="Footer Placeholder 4">
            <a:extLst>
              <a:ext uri="{FF2B5EF4-FFF2-40B4-BE49-F238E27FC236}">
                <a16:creationId xmlns:a16="http://schemas.microsoft.com/office/drawing/2014/main" id="{3532EFAD-FD0F-469E-B1D5-1D56177B4C80}"/>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4241A6CE-4B7D-463A-A8BD-AA8F7482D1DC}"/>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1498784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118BC-5E60-4358-9A33-8F58FA628A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21D685BE-004D-4A39-89EB-BFB604A8B8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784CB77-DDF5-4166-92C6-E9ECE9588716}"/>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5" name="Footer Placeholder 4">
            <a:extLst>
              <a:ext uri="{FF2B5EF4-FFF2-40B4-BE49-F238E27FC236}">
                <a16:creationId xmlns:a16="http://schemas.microsoft.com/office/drawing/2014/main" id="{CBECB714-E9BA-4D5A-85AB-60FB201CE574}"/>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7124C078-A3E9-4392-8524-1E982A2E1B3F}"/>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2555898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D6C7C-768E-450C-9248-054CE6F3A3A1}"/>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6511B300-01A6-4D09-9C94-EDDEA9D64D3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5EF3D27E-3F69-4127-B8F7-FAC6447137E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7B789022-5EB8-4588-8596-CDCA99467251}"/>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6" name="Footer Placeholder 5">
            <a:extLst>
              <a:ext uri="{FF2B5EF4-FFF2-40B4-BE49-F238E27FC236}">
                <a16:creationId xmlns:a16="http://schemas.microsoft.com/office/drawing/2014/main" id="{2DAC4A74-818A-4137-AC45-21B41B5D9B01}"/>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B867CE09-F974-4F9D-88E6-3D7920906313}"/>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379757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F53D3-AD80-4DDE-951D-128ADA90299C}"/>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7FB27A65-376A-4A63-B09B-7B370DD6BD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13F9241-01C1-4D54-AFA3-1AFCEE9A5AA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1DB601AA-2DB3-4A57-8327-5E7950EEC0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D79D78D-5F3E-49DC-95DE-7DF0D2EA316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01FF94E3-BD23-4B5C-9ABB-3FA8A4A968F2}"/>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8" name="Footer Placeholder 7">
            <a:extLst>
              <a:ext uri="{FF2B5EF4-FFF2-40B4-BE49-F238E27FC236}">
                <a16:creationId xmlns:a16="http://schemas.microsoft.com/office/drawing/2014/main" id="{A66A83CE-C7C1-4639-95D2-477C95B652D7}"/>
              </a:ext>
            </a:extLst>
          </p:cNvPr>
          <p:cNvSpPr>
            <a:spLocks noGrp="1"/>
          </p:cNvSpPr>
          <p:nvPr>
            <p:ph type="ftr" sz="quarter" idx="11"/>
          </p:nvPr>
        </p:nvSpPr>
        <p:spPr/>
        <p:txBody>
          <a:bodyPr/>
          <a:lstStyle/>
          <a:p>
            <a:endParaRPr lang="en-PH" dirty="0"/>
          </a:p>
        </p:txBody>
      </p:sp>
      <p:sp>
        <p:nvSpPr>
          <p:cNvPr id="9" name="Slide Number Placeholder 8">
            <a:extLst>
              <a:ext uri="{FF2B5EF4-FFF2-40B4-BE49-F238E27FC236}">
                <a16:creationId xmlns:a16="http://schemas.microsoft.com/office/drawing/2014/main" id="{306F0CF6-7073-4154-B0CF-3E49F9E09FF3}"/>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3820399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FFD46-99F0-4D75-A724-9AA3E05A392C}"/>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7F024B3B-A3C9-4F21-A26F-D893BB365AAB}"/>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4" name="Footer Placeholder 3">
            <a:extLst>
              <a:ext uri="{FF2B5EF4-FFF2-40B4-BE49-F238E27FC236}">
                <a16:creationId xmlns:a16="http://schemas.microsoft.com/office/drawing/2014/main" id="{43FB8E23-7F6A-43C0-A4D5-311246A9E75D}"/>
              </a:ext>
            </a:extLst>
          </p:cNvPr>
          <p:cNvSpPr>
            <a:spLocks noGrp="1"/>
          </p:cNvSpPr>
          <p:nvPr>
            <p:ph type="ftr" sz="quarter" idx="11"/>
          </p:nvPr>
        </p:nvSpPr>
        <p:spPr/>
        <p:txBody>
          <a:bodyPr/>
          <a:lstStyle/>
          <a:p>
            <a:endParaRPr lang="en-PH" dirty="0"/>
          </a:p>
        </p:txBody>
      </p:sp>
      <p:sp>
        <p:nvSpPr>
          <p:cNvPr id="5" name="Slide Number Placeholder 4">
            <a:extLst>
              <a:ext uri="{FF2B5EF4-FFF2-40B4-BE49-F238E27FC236}">
                <a16:creationId xmlns:a16="http://schemas.microsoft.com/office/drawing/2014/main" id="{7F1B4A42-7544-43B6-AC30-2E16C4647368}"/>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661446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1F2B56-9FE7-4F4D-A9AB-96D1C4865790}"/>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3" name="Footer Placeholder 2">
            <a:extLst>
              <a:ext uri="{FF2B5EF4-FFF2-40B4-BE49-F238E27FC236}">
                <a16:creationId xmlns:a16="http://schemas.microsoft.com/office/drawing/2014/main" id="{0CCBC8A1-555F-4224-AC7E-CD1A12C856CD}"/>
              </a:ext>
            </a:extLst>
          </p:cNvPr>
          <p:cNvSpPr>
            <a:spLocks noGrp="1"/>
          </p:cNvSpPr>
          <p:nvPr>
            <p:ph type="ftr" sz="quarter" idx="11"/>
          </p:nvPr>
        </p:nvSpPr>
        <p:spPr/>
        <p:txBody>
          <a:bodyPr/>
          <a:lstStyle/>
          <a:p>
            <a:endParaRPr lang="en-PH" dirty="0"/>
          </a:p>
        </p:txBody>
      </p:sp>
      <p:sp>
        <p:nvSpPr>
          <p:cNvPr id="4" name="Slide Number Placeholder 3">
            <a:extLst>
              <a:ext uri="{FF2B5EF4-FFF2-40B4-BE49-F238E27FC236}">
                <a16:creationId xmlns:a16="http://schemas.microsoft.com/office/drawing/2014/main" id="{13D4D841-7016-4B86-BF78-D3FD2B17209C}"/>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3219363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A2502-8F86-4C85-9748-44E8E18062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22399875-3E7F-47D7-944B-03A7F5A552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98ED6588-0EA3-4A1A-8DAE-7B83257681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ED3DAA8-44A5-4707-8AE0-81D5F4A1E0E8}"/>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6" name="Footer Placeholder 5">
            <a:extLst>
              <a:ext uri="{FF2B5EF4-FFF2-40B4-BE49-F238E27FC236}">
                <a16:creationId xmlns:a16="http://schemas.microsoft.com/office/drawing/2014/main" id="{2C9E9885-2FEA-43D8-AEFD-5CDE1A3C137A}"/>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21B057BB-0A7C-463C-A0BF-B368E89434A9}"/>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2915945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AA7B9-B1C2-4F1F-8737-1A77B712FF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9EBC0D43-DDC3-4D9B-A0E5-D804F2602B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dirty="0"/>
          </a:p>
        </p:txBody>
      </p:sp>
      <p:sp>
        <p:nvSpPr>
          <p:cNvPr id="4" name="Text Placeholder 3">
            <a:extLst>
              <a:ext uri="{FF2B5EF4-FFF2-40B4-BE49-F238E27FC236}">
                <a16:creationId xmlns:a16="http://schemas.microsoft.com/office/drawing/2014/main" id="{EDD2C059-C767-4C21-8455-357BCBA5C0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2CFA01A-BB09-467D-B813-6F9D2F52A50E}"/>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6" name="Footer Placeholder 5">
            <a:extLst>
              <a:ext uri="{FF2B5EF4-FFF2-40B4-BE49-F238E27FC236}">
                <a16:creationId xmlns:a16="http://schemas.microsoft.com/office/drawing/2014/main" id="{7626AB7F-A079-47C9-B834-8D369BB11D66}"/>
              </a:ext>
            </a:extLst>
          </p:cNvPr>
          <p:cNvSpPr>
            <a:spLocks noGrp="1"/>
          </p:cNvSpPr>
          <p:nvPr>
            <p:ph type="ftr" sz="quarter" idx="11"/>
          </p:nvPr>
        </p:nvSpPr>
        <p:spPr/>
        <p:txBody>
          <a:bodyPr/>
          <a:lstStyle/>
          <a:p>
            <a:endParaRPr lang="en-PH" dirty="0"/>
          </a:p>
        </p:txBody>
      </p:sp>
      <p:sp>
        <p:nvSpPr>
          <p:cNvPr id="7" name="Slide Number Placeholder 6">
            <a:extLst>
              <a:ext uri="{FF2B5EF4-FFF2-40B4-BE49-F238E27FC236}">
                <a16:creationId xmlns:a16="http://schemas.microsoft.com/office/drawing/2014/main" id="{1160DDB2-A5D9-4289-9B09-5C56C48891ED}"/>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756054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9F082-5870-4FD3-A44E-C418C9B7975D}"/>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C1845883-C61D-46B2-844D-14383CE47D5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DB234735-51F1-49B6-8A99-9D31B40A4B7F}"/>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5" name="Footer Placeholder 4">
            <a:extLst>
              <a:ext uri="{FF2B5EF4-FFF2-40B4-BE49-F238E27FC236}">
                <a16:creationId xmlns:a16="http://schemas.microsoft.com/office/drawing/2014/main" id="{D061E732-A263-4A2C-A8C7-1B8AB66A3CFF}"/>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B693BB54-8CFA-49E4-9007-2C87455653C6}"/>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958815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0327B3-7056-4345-B61A-CE23D19533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B09B209-22CA-4FE6-AC42-60BCFC2686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2E289D2-398B-4F3D-A510-04B62EEA2120}"/>
              </a:ext>
            </a:extLst>
          </p:cNvPr>
          <p:cNvSpPr>
            <a:spLocks noGrp="1"/>
          </p:cNvSpPr>
          <p:nvPr>
            <p:ph type="dt" sz="half" idx="10"/>
          </p:nvPr>
        </p:nvSpPr>
        <p:spPr/>
        <p:txBody>
          <a:bodyPr/>
          <a:lstStyle/>
          <a:p>
            <a:fld id="{BD918821-5B80-49DE-83C9-AB4B8D8DA84C}" type="datetimeFigureOut">
              <a:rPr lang="en-PH" smtClean="0"/>
              <a:t>5/19/2026</a:t>
            </a:fld>
            <a:endParaRPr lang="en-PH" dirty="0"/>
          </a:p>
        </p:txBody>
      </p:sp>
      <p:sp>
        <p:nvSpPr>
          <p:cNvPr id="5" name="Footer Placeholder 4">
            <a:extLst>
              <a:ext uri="{FF2B5EF4-FFF2-40B4-BE49-F238E27FC236}">
                <a16:creationId xmlns:a16="http://schemas.microsoft.com/office/drawing/2014/main" id="{8E905E38-7121-4EA9-BB5B-F44D829E7B98}"/>
              </a:ext>
            </a:extLst>
          </p:cNvPr>
          <p:cNvSpPr>
            <a:spLocks noGrp="1"/>
          </p:cNvSpPr>
          <p:nvPr>
            <p:ph type="ftr" sz="quarter" idx="11"/>
          </p:nvPr>
        </p:nvSpPr>
        <p:spPr/>
        <p:txBody>
          <a:bodyPr/>
          <a:lstStyle/>
          <a:p>
            <a:endParaRPr lang="en-PH" dirty="0"/>
          </a:p>
        </p:txBody>
      </p:sp>
      <p:sp>
        <p:nvSpPr>
          <p:cNvPr id="6" name="Slide Number Placeholder 5">
            <a:extLst>
              <a:ext uri="{FF2B5EF4-FFF2-40B4-BE49-F238E27FC236}">
                <a16:creationId xmlns:a16="http://schemas.microsoft.com/office/drawing/2014/main" id="{10B33936-53EE-4F05-94D7-E85379A7C28E}"/>
              </a:ext>
            </a:extLst>
          </p:cNvPr>
          <p:cNvSpPr>
            <a:spLocks noGrp="1"/>
          </p:cNvSpPr>
          <p:nvPr>
            <p:ph type="sldNum" sz="quarter" idx="12"/>
          </p:nvPr>
        </p:nvSpPr>
        <p:spPr/>
        <p:txBody>
          <a:bodyPr/>
          <a:lstStyle/>
          <a:p>
            <a:fld id="{1190EF2A-096D-4C65-8628-79D8105BAFC1}" type="slidenum">
              <a:rPr lang="en-PH" smtClean="0"/>
              <a:t>‹#›</a:t>
            </a:fld>
            <a:endParaRPr lang="en-PH" dirty="0"/>
          </a:p>
        </p:txBody>
      </p:sp>
    </p:spTree>
    <p:extLst>
      <p:ext uri="{BB962C8B-B14F-4D97-AF65-F5344CB8AC3E}">
        <p14:creationId xmlns:p14="http://schemas.microsoft.com/office/powerpoint/2010/main" val="2702036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054C4-85AC-4BBF-A12D-3E96C7F72B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B66523D8-43C1-41DC-86FD-B11F95C816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E393823-1649-4DC5-B897-A7F1322E57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18821-5B80-49DE-83C9-AB4B8D8DA84C}" type="datetimeFigureOut">
              <a:rPr lang="en-PH" smtClean="0"/>
              <a:t>5/19/2026</a:t>
            </a:fld>
            <a:endParaRPr lang="en-PH" dirty="0"/>
          </a:p>
        </p:txBody>
      </p:sp>
      <p:sp>
        <p:nvSpPr>
          <p:cNvPr id="5" name="Footer Placeholder 4">
            <a:extLst>
              <a:ext uri="{FF2B5EF4-FFF2-40B4-BE49-F238E27FC236}">
                <a16:creationId xmlns:a16="http://schemas.microsoft.com/office/drawing/2014/main" id="{E1C93376-6E35-49F3-871B-59B4F15311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dirty="0"/>
          </a:p>
        </p:txBody>
      </p:sp>
      <p:sp>
        <p:nvSpPr>
          <p:cNvPr id="6" name="Slide Number Placeholder 5">
            <a:extLst>
              <a:ext uri="{FF2B5EF4-FFF2-40B4-BE49-F238E27FC236}">
                <a16:creationId xmlns:a16="http://schemas.microsoft.com/office/drawing/2014/main" id="{4F7AF157-0BBA-4E0F-B2EB-8F806E71C7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90EF2A-096D-4C65-8628-79D8105BAFC1}" type="slidenum">
              <a:rPr lang="en-PH" smtClean="0"/>
              <a:t>‹#›</a:t>
            </a:fld>
            <a:endParaRPr lang="en-PH" dirty="0"/>
          </a:p>
        </p:txBody>
      </p:sp>
    </p:spTree>
    <p:extLst>
      <p:ext uri="{BB962C8B-B14F-4D97-AF65-F5344CB8AC3E}">
        <p14:creationId xmlns:p14="http://schemas.microsoft.com/office/powerpoint/2010/main" val="1960997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6.jpe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31.jpg"/><Relationship Id="rId7" Type="http://schemas.openxmlformats.org/officeDocument/2006/relationships/image" Target="../media/image35.jp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34.jpg"/><Relationship Id="rId5" Type="http://schemas.openxmlformats.org/officeDocument/2006/relationships/image" Target="../media/image33.jpg"/><Relationship Id="rId4" Type="http://schemas.openxmlformats.org/officeDocument/2006/relationships/image" Target="../media/image32.jp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719DFEE-3698-423B-8D70-61A39DDE9D74}"/>
              </a:ext>
            </a:extLst>
          </p:cNvPr>
          <p:cNvSpPr txBox="1"/>
          <p:nvPr/>
        </p:nvSpPr>
        <p:spPr>
          <a:xfrm>
            <a:off x="1796717" y="782523"/>
            <a:ext cx="6494866" cy="646331"/>
          </a:xfrm>
          <a:prstGeom prst="rect">
            <a:avLst/>
          </a:prstGeom>
          <a:noFill/>
        </p:spPr>
        <p:txBody>
          <a:bodyPr wrap="square" rtlCol="0" anchor="ctr">
            <a:spAutoFit/>
          </a:bodyPr>
          <a:lstStyle/>
          <a:p>
            <a:r>
              <a:rPr lang="en-PH" sz="3600" b="1" dirty="0">
                <a:solidFill>
                  <a:srgbClr val="1D3784"/>
                </a:solidFill>
                <a:latin typeface="Vivaldi" panose="03020602050506090804" pitchFamily="66" charset="0"/>
                <a:cs typeface="Arial" panose="020B0604020202020204" pitchFamily="34" charset="0"/>
              </a:rPr>
              <a:t>College of Engineering</a:t>
            </a: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21556" t="18311" r="18711" b="20889"/>
          <a:stretch/>
        </p:blipFill>
        <p:spPr>
          <a:xfrm>
            <a:off x="295226" y="1139231"/>
            <a:ext cx="952968" cy="969985"/>
          </a:xfrm>
          <a:prstGeom prst="rect">
            <a:avLst/>
          </a:prstGeom>
        </p:spPr>
      </p:pic>
      <p:pic>
        <p:nvPicPr>
          <p:cNvPr id="10" name="Google Shape;89;g35ddd151ed2_0_0"/>
          <p:cNvPicPr preferRelativeResize="0">
            <a:picLocks noChangeAspect="1"/>
          </p:cNvPicPr>
          <p:nvPr/>
        </p:nvPicPr>
        <p:blipFill rotWithShape="1">
          <a:blip r:embed="rId4">
            <a:alphaModFix/>
          </a:blip>
          <a:srcRect l="48582"/>
          <a:stretch/>
        </p:blipFill>
        <p:spPr>
          <a:xfrm>
            <a:off x="288766" y="2189669"/>
            <a:ext cx="902271" cy="849095"/>
          </a:xfrm>
          <a:prstGeom prst="rect">
            <a:avLst/>
          </a:prstGeom>
          <a:noFill/>
          <a:ln>
            <a:noFill/>
          </a:ln>
        </p:spPr>
      </p:pic>
      <p:sp>
        <p:nvSpPr>
          <p:cNvPr id="11" name="Google Shape;90;g35ddd151ed2_0_0"/>
          <p:cNvSpPr txBox="1"/>
          <p:nvPr/>
        </p:nvSpPr>
        <p:spPr>
          <a:xfrm>
            <a:off x="2194361" y="1072438"/>
            <a:ext cx="9112488" cy="56861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lang="en-PH" sz="1900" b="0" i="0" u="none" strike="noStrike" cap="none" dirty="0">
              <a:latin typeface="Century Gothic" panose="020B0502020202020204" pitchFamily="34" charset="0"/>
              <a:ea typeface="Arial Narrow"/>
              <a:cs typeface="Arial Narrow"/>
              <a:sym typeface="Arial Narrow"/>
            </a:endParaRPr>
          </a:p>
          <a:p>
            <a:pPr marL="0" marR="0" lvl="0" indent="0" algn="ctr" rtl="0">
              <a:spcBef>
                <a:spcPts val="0"/>
              </a:spcBef>
              <a:spcAft>
                <a:spcPts val="0"/>
              </a:spcAft>
              <a:buNone/>
            </a:pPr>
            <a:r>
              <a:rPr lang="en-PH" sz="1550" b="0" i="0" u="none" strike="noStrike" cap="none" dirty="0">
                <a:latin typeface="Century Gothic" panose="020B0502020202020204" pitchFamily="34" charset="0"/>
                <a:ea typeface="Arial Narrow"/>
                <a:cs typeface="Arial Narrow"/>
                <a:sym typeface="Arial Narrow"/>
              </a:rPr>
              <a:t>Oral Final Defense of Thesis entitled</a:t>
            </a:r>
          </a:p>
          <a:p>
            <a:pPr marL="0" marR="0" lvl="0" indent="0" algn="ctr" rtl="0">
              <a:spcBef>
                <a:spcPts val="0"/>
              </a:spcBef>
              <a:spcAft>
                <a:spcPts val="0"/>
              </a:spcAft>
              <a:buNone/>
            </a:pPr>
            <a:endParaRPr lang="en-US" sz="1550" b="0" i="0" u="none" strike="noStrike" cap="none" dirty="0">
              <a:latin typeface="Century Gothic" panose="020B0502020202020204" pitchFamily="34" charset="0"/>
              <a:ea typeface="Arial Narrow"/>
              <a:cs typeface="Arial Narrow"/>
              <a:sym typeface="Arial Narrow"/>
            </a:endParaRPr>
          </a:p>
          <a:p>
            <a:pPr lvl="0" algn="ctr"/>
            <a:r>
              <a:rPr lang="en-US" sz="1550" b="1" dirty="0">
                <a:latin typeface="Century Gothic" panose="020B0502020202020204" pitchFamily="34" charset="0"/>
              </a:rPr>
              <a:t>DEVELOPMENT AND PERFORMANCE EVALUATION OF A REAL-TIME ANOMALY DETECTION SYSTEM FOR HYBRID POWER OPERATION USING RULE-BASED SIGNAL ANALYSIS</a:t>
            </a:r>
          </a:p>
          <a:p>
            <a:pPr lvl="0" algn="ctr"/>
            <a:r>
              <a:rPr lang="en-US" sz="1550" b="0" i="0" u="none" strike="noStrike" cap="none" dirty="0">
                <a:latin typeface="Century Gothic" panose="020B0502020202020204" pitchFamily="34" charset="0"/>
                <a:ea typeface="Arial Narrow"/>
                <a:cs typeface="Arial Narrow"/>
                <a:sym typeface="Arial Narrow"/>
              </a:rPr>
              <a:t>BY</a:t>
            </a:r>
            <a:endParaRPr lang="en-US" sz="1550" dirty="0">
              <a:latin typeface="Century Gothic" panose="020B0502020202020204" pitchFamily="34" charset="0"/>
            </a:endParaRPr>
          </a:p>
          <a:p>
            <a:pPr lvl="0" algn="ctr">
              <a:buClr>
                <a:schemeClr val="lt1"/>
              </a:buClr>
              <a:buSzPts val="3600"/>
            </a:pPr>
            <a:r>
              <a:rPr lang="pt-BR" sz="1550" b="1" dirty="0">
                <a:latin typeface="Century Gothic" panose="020B0502020202020204" pitchFamily="34" charset="0"/>
                <a:ea typeface="Arial Narrow"/>
                <a:cs typeface="Arial Narrow"/>
                <a:sym typeface="Arial Narrow"/>
              </a:rPr>
              <a:t>ROSIE MAY ANDES</a:t>
            </a:r>
            <a:br>
              <a:rPr lang="pt-BR" sz="1550" b="1" dirty="0">
                <a:latin typeface="Century Gothic" panose="020B0502020202020204" pitchFamily="34" charset="0"/>
                <a:ea typeface="Arial Narrow"/>
                <a:cs typeface="Arial Narrow"/>
                <a:sym typeface="Arial Narrow"/>
              </a:rPr>
            </a:br>
            <a:r>
              <a:rPr lang="pt-BR" sz="1550" b="1" dirty="0">
                <a:latin typeface="Century Gothic" panose="020B0502020202020204" pitchFamily="34" charset="0"/>
                <a:ea typeface="Arial Narrow"/>
                <a:cs typeface="Arial Narrow"/>
                <a:sym typeface="Arial Narrow"/>
              </a:rPr>
              <a:t>JAYVEE C. BUENAVENTURA</a:t>
            </a:r>
          </a:p>
          <a:p>
            <a:pPr lvl="0" algn="ctr">
              <a:buClr>
                <a:schemeClr val="lt1"/>
              </a:buClr>
              <a:buSzPts val="3600"/>
            </a:pPr>
            <a:r>
              <a:rPr lang="pt-BR" sz="1550" b="1" dirty="0">
                <a:latin typeface="Century Gothic" panose="020B0502020202020204" pitchFamily="34" charset="0"/>
                <a:ea typeface="Arial Narrow"/>
                <a:cs typeface="Arial Narrow"/>
                <a:sym typeface="Arial Narrow"/>
              </a:rPr>
              <a:t>PRINCESS JANELLE M. CALIMUTAN</a:t>
            </a:r>
          </a:p>
          <a:p>
            <a:pPr lvl="0" algn="ctr">
              <a:buClr>
                <a:schemeClr val="lt1"/>
              </a:buClr>
              <a:buSzPts val="3600"/>
            </a:pPr>
            <a:r>
              <a:rPr lang="pt-BR" sz="1550" b="1" dirty="0">
                <a:latin typeface="Century Gothic" panose="020B0502020202020204" pitchFamily="34" charset="0"/>
                <a:ea typeface="Arial Narrow"/>
                <a:cs typeface="Arial Narrow"/>
                <a:sym typeface="Arial Narrow"/>
              </a:rPr>
              <a:t>JHUDIEL F. CORDONATO</a:t>
            </a:r>
          </a:p>
          <a:p>
            <a:pPr lvl="0" algn="ctr">
              <a:buClr>
                <a:schemeClr val="lt1"/>
              </a:buClr>
              <a:buSzPts val="3600"/>
            </a:pPr>
            <a:r>
              <a:rPr lang="pt-BR" sz="1550" b="1" dirty="0">
                <a:latin typeface="Century Gothic" panose="020B0502020202020204" pitchFamily="34" charset="0"/>
                <a:ea typeface="Arial Narrow"/>
                <a:cs typeface="Arial Narrow"/>
                <a:sym typeface="Arial Narrow"/>
              </a:rPr>
              <a:t>JONAS EISEN T. MANGUIAT</a:t>
            </a:r>
          </a:p>
          <a:p>
            <a:pPr lvl="0" algn="ctr">
              <a:buClr>
                <a:schemeClr val="lt1"/>
              </a:buClr>
              <a:buSzPts val="3600"/>
            </a:pPr>
            <a:r>
              <a:rPr lang="pt-BR" sz="1550" b="1" dirty="0">
                <a:latin typeface="Century Gothic" panose="020B0502020202020204" pitchFamily="34" charset="0"/>
                <a:ea typeface="Arial Narrow"/>
                <a:cs typeface="Arial Narrow"/>
                <a:sym typeface="Arial Narrow"/>
              </a:rPr>
              <a:t>IAN MAR D. OCLARINO</a:t>
            </a:r>
            <a:br>
              <a:rPr lang="pt-BR" sz="1550" b="1" dirty="0">
                <a:latin typeface="Century Gothic" panose="020B0502020202020204" pitchFamily="34" charset="0"/>
                <a:ea typeface="Arial Narrow"/>
                <a:cs typeface="Arial Narrow"/>
                <a:sym typeface="Arial Narrow"/>
              </a:rPr>
            </a:br>
            <a:r>
              <a:rPr lang="pt-BR" sz="1550" b="1" dirty="0">
                <a:latin typeface="Century Gothic" panose="020B0502020202020204" pitchFamily="34" charset="0"/>
                <a:ea typeface="Arial Narrow"/>
                <a:cs typeface="Arial Narrow"/>
                <a:sym typeface="Arial Narrow"/>
              </a:rPr>
              <a:t>KRISTHEL M. OROZCO</a:t>
            </a:r>
          </a:p>
          <a:p>
            <a:pPr algn="ctr">
              <a:buClr>
                <a:schemeClr val="lt1"/>
              </a:buClr>
              <a:buSzPts val="3600"/>
            </a:pPr>
            <a:r>
              <a:rPr lang="en-ID" sz="1550" b="1" dirty="0">
                <a:latin typeface="Century Gothic" panose="020B0502020202020204" pitchFamily="34" charset="0"/>
              </a:rPr>
              <a:t>JOHN LLOYD P. RAZON</a:t>
            </a:r>
          </a:p>
          <a:p>
            <a:pPr algn="ctr">
              <a:buClr>
                <a:schemeClr val="lt1"/>
              </a:buClr>
              <a:buSzPts val="3600"/>
            </a:pPr>
            <a:r>
              <a:rPr lang="en-ID" sz="1550" b="1" dirty="0">
                <a:latin typeface="Century Gothic" panose="020B0502020202020204" pitchFamily="34" charset="0"/>
              </a:rPr>
              <a:t> </a:t>
            </a:r>
            <a:r>
              <a:rPr lang="en-PH" sz="1550" b="0" i="0" u="none" strike="noStrike" cap="none" dirty="0">
                <a:latin typeface="Century Gothic" panose="020B0502020202020204" pitchFamily="34" charset="0"/>
                <a:ea typeface="Arial Narrow"/>
                <a:cs typeface="Arial Narrow"/>
                <a:sym typeface="Arial Narrow"/>
              </a:rPr>
              <a:t>BS </a:t>
            </a:r>
            <a:r>
              <a:rPr lang="en-PH" sz="1550" dirty="0">
                <a:latin typeface="Century Gothic" panose="020B0502020202020204" pitchFamily="34" charset="0"/>
                <a:ea typeface="Arial Narrow"/>
                <a:cs typeface="Arial Narrow"/>
                <a:sym typeface="Arial Narrow"/>
              </a:rPr>
              <a:t>Computer</a:t>
            </a:r>
            <a:r>
              <a:rPr lang="en-PH" sz="1550" b="0" i="0" u="none" strike="noStrike" cap="none" dirty="0">
                <a:latin typeface="Century Gothic" panose="020B0502020202020204" pitchFamily="34" charset="0"/>
                <a:ea typeface="Arial Narrow"/>
                <a:cs typeface="Arial Narrow"/>
                <a:sym typeface="Arial Narrow"/>
              </a:rPr>
              <a:t> Engineering Candidate</a:t>
            </a:r>
            <a:endParaRPr sz="1550" dirty="0">
              <a:latin typeface="Century Gothic" panose="020B0502020202020204" pitchFamily="34" charset="0"/>
            </a:endParaRPr>
          </a:p>
          <a:p>
            <a:pPr marL="0" marR="0" lvl="0" indent="0" algn="ctr" rtl="0">
              <a:spcBef>
                <a:spcPts val="0"/>
              </a:spcBef>
              <a:spcAft>
                <a:spcPts val="0"/>
              </a:spcAft>
              <a:buNone/>
            </a:pPr>
            <a:r>
              <a:rPr lang="en-PH" sz="1550" b="0" i="0" u="none" strike="noStrike" cap="none" dirty="0">
                <a:latin typeface="Century Gothic" panose="020B0502020202020204" pitchFamily="34" charset="0"/>
                <a:ea typeface="Arial Narrow"/>
                <a:cs typeface="Arial Narrow"/>
                <a:sym typeface="Arial Narrow"/>
              </a:rPr>
              <a:t> </a:t>
            </a:r>
            <a:endParaRPr sz="1550" dirty="0">
              <a:latin typeface="Century Gothic" panose="020B0502020202020204" pitchFamily="34" charset="0"/>
            </a:endParaRPr>
          </a:p>
          <a:p>
            <a:pPr lvl="0" algn="ctr"/>
            <a:r>
              <a:rPr lang="en-PH" sz="1550" b="1" dirty="0">
                <a:latin typeface="Century Gothic" panose="020B0502020202020204" pitchFamily="34" charset="0"/>
                <a:ea typeface="Arial Narrow"/>
                <a:cs typeface="Arial Narrow"/>
                <a:sym typeface="Arial Narrow"/>
              </a:rPr>
              <a:t> ENGR. FLAVIANO L. URERA JR. </a:t>
            </a:r>
            <a:r>
              <a:rPr lang="en-PH" sz="1550" dirty="0">
                <a:latin typeface="Century Gothic" panose="020B0502020202020204" pitchFamily="34" charset="0"/>
                <a:ea typeface="Arial Narrow"/>
                <a:cs typeface="Arial Narrow"/>
                <a:sym typeface="Arial Narrow"/>
              </a:rPr>
              <a:t>(Adviser)</a:t>
            </a:r>
          </a:p>
          <a:p>
            <a:pPr lvl="0" algn="ctr"/>
            <a:r>
              <a:rPr lang="en-PH" sz="1550" b="1" dirty="0">
                <a:latin typeface="Century Gothic" panose="020B0502020202020204" pitchFamily="34" charset="0"/>
                <a:ea typeface="Arial Narrow"/>
                <a:cs typeface="Arial Narrow"/>
                <a:sym typeface="Arial Narrow"/>
              </a:rPr>
              <a:t>ENGR. CHONA MASACUPAN </a:t>
            </a:r>
            <a:r>
              <a:rPr lang="en-PH" sz="1550" dirty="0">
                <a:latin typeface="Century Gothic" panose="020B0502020202020204" pitchFamily="34" charset="0"/>
                <a:ea typeface="Arial Narrow"/>
                <a:cs typeface="Arial Narrow"/>
                <a:sym typeface="Arial Narrow"/>
              </a:rPr>
              <a:t>(Co-Adviser)</a:t>
            </a:r>
          </a:p>
          <a:p>
            <a:pPr lvl="0" algn="ctr"/>
            <a:r>
              <a:rPr lang="en-PH" sz="1550" b="1" dirty="0">
                <a:latin typeface="Century Gothic" panose="020B0502020202020204" pitchFamily="34" charset="0"/>
                <a:ea typeface="Arial Narrow"/>
                <a:cs typeface="Arial Narrow"/>
                <a:sym typeface="Arial Narrow"/>
              </a:rPr>
              <a:t>ENGR. NOIME G. ROBLES </a:t>
            </a:r>
            <a:r>
              <a:rPr lang="en-PH" sz="1550" dirty="0">
                <a:latin typeface="Century Gothic" panose="020B0502020202020204" pitchFamily="34" charset="0"/>
                <a:ea typeface="Arial Narrow"/>
                <a:cs typeface="Arial Narrow"/>
                <a:sym typeface="Arial Narrow"/>
              </a:rPr>
              <a:t>(Specialist)</a:t>
            </a:r>
          </a:p>
          <a:p>
            <a:pPr lvl="0" algn="ctr"/>
            <a:r>
              <a:rPr lang="en-PH" sz="1550" b="1" dirty="0">
                <a:latin typeface="Century Gothic" panose="020B0502020202020204" pitchFamily="34" charset="0"/>
                <a:ea typeface="Arial Narrow"/>
                <a:cs typeface="Arial Narrow"/>
                <a:sym typeface="Arial Narrow"/>
              </a:rPr>
              <a:t>ENGR. RAYMOND R. BALINO </a:t>
            </a:r>
            <a:r>
              <a:rPr lang="en-PH" sz="1550" dirty="0">
                <a:latin typeface="Century Gothic" panose="020B0502020202020204" pitchFamily="34" charset="0"/>
                <a:ea typeface="Arial Narrow"/>
                <a:cs typeface="Arial Narrow"/>
                <a:sym typeface="Arial Narrow"/>
              </a:rPr>
              <a:t>(Statistician)</a:t>
            </a:r>
          </a:p>
          <a:p>
            <a:pPr lvl="0" algn="ctr"/>
            <a:r>
              <a:rPr lang="en-PH" sz="1550" b="1" dirty="0">
                <a:latin typeface="Century Gothic" panose="020B0502020202020204" pitchFamily="34" charset="0"/>
                <a:ea typeface="Arial Narrow"/>
                <a:cs typeface="Arial Narrow"/>
                <a:sym typeface="Arial Narrow"/>
              </a:rPr>
              <a:t>ENGR. WILFREDO G. TUSO III </a:t>
            </a:r>
            <a:r>
              <a:rPr lang="en-PH" sz="1550" dirty="0">
                <a:latin typeface="Century Gothic" panose="020B0502020202020204" pitchFamily="34" charset="0"/>
                <a:ea typeface="Arial Narrow"/>
                <a:cs typeface="Arial Narrow"/>
                <a:sym typeface="Arial Narrow"/>
              </a:rPr>
              <a:t>(Panel Chair)</a:t>
            </a:r>
          </a:p>
          <a:p>
            <a:pPr algn="ctr"/>
            <a:r>
              <a:rPr lang="en-US" sz="1550" b="1" dirty="0">
                <a:latin typeface="Century Gothic" panose="020B0502020202020204" pitchFamily="34" charset="0"/>
              </a:rPr>
              <a:t>ENGR. LEONARDO A. VENANCIO </a:t>
            </a:r>
            <a:r>
              <a:rPr lang="en-PH" sz="1550" dirty="0">
                <a:latin typeface="Century Gothic" panose="020B0502020202020204" pitchFamily="34" charset="0"/>
                <a:ea typeface="Arial Narrow"/>
                <a:cs typeface="Arial Narrow"/>
                <a:sym typeface="Arial Narrow"/>
              </a:rPr>
              <a:t>(Panel Chair)</a:t>
            </a:r>
          </a:p>
          <a:p>
            <a:pPr lvl="0" algn="ctr"/>
            <a:endParaRPr sz="1900" b="1" dirty="0">
              <a:latin typeface="Century Gothic" panose="020B0502020202020204" pitchFamily="34" charset="0"/>
            </a:endParaRPr>
          </a:p>
        </p:txBody>
      </p:sp>
      <p:pic>
        <p:nvPicPr>
          <p:cNvPr id="6" name="Picture 5">
            <a:extLst>
              <a:ext uri="{FF2B5EF4-FFF2-40B4-BE49-F238E27FC236}">
                <a16:creationId xmlns:a16="http://schemas.microsoft.com/office/drawing/2014/main" id="{DE5C03F0-B750-FCC9-1CB7-0AD3A6C29178}"/>
              </a:ext>
            </a:extLst>
          </p:cNvPr>
          <p:cNvPicPr preferRelativeResize="0">
            <a:picLocks noChangeAspect="1"/>
          </p:cNvPicPr>
          <p:nvPr/>
        </p:nvPicPr>
        <p:blipFill rotWithShape="1">
          <a:blip r:embed="rId5"/>
          <a:srcRect l="52984" t="2523" r="394" b="6888"/>
          <a:stretch/>
        </p:blipFill>
        <p:spPr>
          <a:xfrm>
            <a:off x="340994" y="2208173"/>
            <a:ext cx="828000" cy="828000"/>
          </a:xfrm>
          <a:prstGeom prst="rect">
            <a:avLst/>
          </a:prstGeom>
          <a:ln w="12700">
            <a:solidFill>
              <a:schemeClr val="accent1">
                <a:lumMod val="75000"/>
              </a:schemeClr>
            </a:solidFill>
          </a:ln>
        </p:spPr>
      </p:pic>
    </p:spTree>
    <p:extLst>
      <p:ext uri="{BB962C8B-B14F-4D97-AF65-F5344CB8AC3E}">
        <p14:creationId xmlns:p14="http://schemas.microsoft.com/office/powerpoint/2010/main" val="762793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741697"/>
            <a:ext cx="9884229" cy="5847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noProof="0" dirty="0">
                <a:solidFill>
                  <a:srgbClr val="1D3784"/>
                </a:solidFill>
                <a:latin typeface="Century Gothic" panose="020B0502020202020204" pitchFamily="34" charset="0"/>
                <a:cs typeface="Arial" panose="020B0604020202020204" pitchFamily="34" charset="0"/>
              </a:rPr>
              <a:t>OVERVIEW</a:t>
            </a:r>
            <a:endParaRPr kumimoji="0" lang="en-PH" sz="3200" b="1" i="0" u="none" strike="noStrike" kern="1200" cap="none" spc="0" normalizeH="0" baseline="0" noProof="0" dirty="0">
              <a:ln>
                <a:noFill/>
              </a:ln>
              <a:solidFill>
                <a:srgbClr val="1D3784"/>
              </a:solidFill>
              <a:effectLst/>
              <a:uLnTx/>
              <a:uFillTx/>
              <a:latin typeface="Century Gothic" panose="020B0502020202020204" pitchFamily="34" charset="0"/>
              <a:ea typeface="+mn-ea"/>
              <a:cs typeface="Arial" panose="020B0604020202020204" pitchFamily="34" charset="0"/>
            </a:endParaRPr>
          </a:p>
        </p:txBody>
      </p:sp>
      <p:sp>
        <p:nvSpPr>
          <p:cNvPr id="14" name="Google Shape;103;p2"/>
          <p:cNvSpPr txBox="1"/>
          <p:nvPr/>
        </p:nvSpPr>
        <p:spPr>
          <a:xfrm>
            <a:off x="1006353" y="1452233"/>
            <a:ext cx="7869791" cy="4545347"/>
          </a:xfrm>
          <a:prstGeom prst="rect">
            <a:avLst/>
          </a:prstGeom>
          <a:noFill/>
          <a:ln>
            <a:noFill/>
          </a:ln>
        </p:spPr>
        <p:txBody>
          <a:bodyPr spcFirstLastPara="1" wrap="square" lIns="0" tIns="0" rIns="0" bIns="0" anchor="t" anchorCtr="0">
            <a:spAutoFit/>
          </a:bodyPr>
          <a:lstStyle/>
          <a:p>
            <a:pPr marL="555094" lvl="1" indent="-269079">
              <a:lnSpc>
                <a:spcPct val="139989"/>
              </a:lnSpc>
              <a:buClr>
                <a:srgbClr val="04182D"/>
              </a:buClr>
              <a:buSzPts val="3656"/>
              <a:buFont typeface="Arial"/>
              <a:buChar char="•"/>
            </a:pPr>
            <a:r>
              <a:rPr lang="en-PH" sz="2437" dirty="0">
                <a:solidFill>
                  <a:srgbClr val="04182D"/>
                </a:solidFill>
                <a:latin typeface="Arial Narrow"/>
                <a:ea typeface="Arial Narrow"/>
                <a:cs typeface="Arial Narrow"/>
                <a:sym typeface="Arial Narrow"/>
              </a:rPr>
              <a:t>Introduction</a:t>
            </a:r>
            <a:endParaRPr sz="800" dirty="0"/>
          </a:p>
          <a:p>
            <a:pPr marL="555094" lvl="1" indent="-269079">
              <a:lnSpc>
                <a:spcPct val="139989"/>
              </a:lnSpc>
              <a:buClr>
                <a:srgbClr val="04182D"/>
              </a:buClr>
              <a:buSzPts val="3656"/>
              <a:buFont typeface="Arial"/>
              <a:buChar char="•"/>
            </a:pPr>
            <a:r>
              <a:rPr lang="en-PH" sz="2437" dirty="0">
                <a:solidFill>
                  <a:srgbClr val="04182D"/>
                </a:solidFill>
                <a:latin typeface="Arial Narrow"/>
                <a:ea typeface="Arial Narrow"/>
                <a:cs typeface="Arial Narrow"/>
                <a:sym typeface="Arial Narrow"/>
              </a:rPr>
              <a:t>Objectives of the Study</a:t>
            </a:r>
            <a:endParaRPr sz="800" dirty="0"/>
          </a:p>
          <a:p>
            <a:pPr marL="555094" lvl="1" indent="-269079">
              <a:lnSpc>
                <a:spcPct val="139989"/>
              </a:lnSpc>
              <a:buClr>
                <a:srgbClr val="04182D"/>
              </a:buClr>
              <a:buSzPts val="3656"/>
              <a:buFont typeface="Arial"/>
              <a:buChar char="•"/>
            </a:pPr>
            <a:r>
              <a:rPr lang="en-PH" sz="2437" dirty="0">
                <a:solidFill>
                  <a:srgbClr val="04182D"/>
                </a:solidFill>
                <a:latin typeface="Arial Narrow"/>
                <a:ea typeface="Arial Narrow"/>
                <a:cs typeface="Arial Narrow"/>
                <a:sym typeface="Arial Narrow"/>
              </a:rPr>
              <a:t>Research Paradigm/ Framework</a:t>
            </a:r>
          </a:p>
          <a:p>
            <a:pPr marL="555094" lvl="1" indent="-269079">
              <a:lnSpc>
                <a:spcPct val="139989"/>
              </a:lnSpc>
              <a:buClr>
                <a:srgbClr val="04182D"/>
              </a:buClr>
              <a:buSzPts val="3656"/>
              <a:buFont typeface="Arial"/>
              <a:buChar char="•"/>
            </a:pPr>
            <a:r>
              <a:rPr lang="en-PH" sz="2437" dirty="0">
                <a:solidFill>
                  <a:srgbClr val="04182D"/>
                </a:solidFill>
                <a:latin typeface="Arial Narrow"/>
                <a:sym typeface="Arial Narrow"/>
              </a:rPr>
              <a:t>General Description and Features, Parts and Relevant Computations and Assumptions</a:t>
            </a:r>
          </a:p>
          <a:p>
            <a:pPr marL="555094" lvl="1" indent="-269079">
              <a:lnSpc>
                <a:spcPct val="139989"/>
              </a:lnSpc>
              <a:buClr>
                <a:srgbClr val="04182D"/>
              </a:buClr>
              <a:buSzPts val="3656"/>
              <a:buFont typeface="Arial"/>
              <a:buChar char="•"/>
            </a:pPr>
            <a:r>
              <a:rPr lang="en-PH" sz="2437" dirty="0">
                <a:solidFill>
                  <a:srgbClr val="04182D"/>
                </a:solidFill>
                <a:latin typeface="Arial Narrow"/>
                <a:sym typeface="Arial Narrow"/>
              </a:rPr>
              <a:t>Special techniques and Procedure</a:t>
            </a:r>
          </a:p>
          <a:p>
            <a:pPr marL="555094" lvl="1" indent="-269079">
              <a:lnSpc>
                <a:spcPct val="139989"/>
              </a:lnSpc>
              <a:buClr>
                <a:srgbClr val="04182D"/>
              </a:buClr>
              <a:buSzPts val="3656"/>
              <a:buFont typeface="Arial"/>
              <a:buChar char="•"/>
            </a:pPr>
            <a:r>
              <a:rPr lang="en-PH" sz="2437" dirty="0">
                <a:solidFill>
                  <a:srgbClr val="04182D"/>
                </a:solidFill>
                <a:latin typeface="Arial Narrow"/>
                <a:sym typeface="Arial Narrow"/>
              </a:rPr>
              <a:t>System Performance, Relevant Graphs and Figures, Analysis</a:t>
            </a:r>
          </a:p>
          <a:p>
            <a:pPr marL="555094" lvl="1" indent="-269079">
              <a:lnSpc>
                <a:spcPct val="139989"/>
              </a:lnSpc>
              <a:buClr>
                <a:srgbClr val="04182D"/>
              </a:buClr>
              <a:buSzPts val="3656"/>
              <a:buFont typeface="Arial"/>
              <a:buChar char="•"/>
            </a:pPr>
            <a:r>
              <a:rPr lang="en-PH" sz="2437" dirty="0">
                <a:solidFill>
                  <a:srgbClr val="04182D"/>
                </a:solidFill>
                <a:latin typeface="Arial Narrow"/>
                <a:sym typeface="Arial Narrow"/>
              </a:rPr>
              <a:t>Findings, Conclusion and Recommendation</a:t>
            </a:r>
          </a:p>
          <a:p>
            <a:pPr marL="555094" lvl="1" indent="-269079">
              <a:lnSpc>
                <a:spcPct val="139989"/>
              </a:lnSpc>
              <a:buClr>
                <a:srgbClr val="04182D"/>
              </a:buClr>
              <a:buSzPts val="3656"/>
              <a:buFont typeface="Arial"/>
              <a:buChar char="•"/>
            </a:pPr>
            <a:endParaRPr sz="800" dirty="0"/>
          </a:p>
          <a:p>
            <a:pPr marL="609630">
              <a:lnSpc>
                <a:spcPct val="139989"/>
              </a:lnSpc>
            </a:pPr>
            <a:endParaRPr sz="800" dirty="0"/>
          </a:p>
        </p:txBody>
      </p:sp>
      <p:sp>
        <p:nvSpPr>
          <p:cNvPr id="5" name="Google Shape;104;p2"/>
          <p:cNvSpPr txBox="1"/>
          <p:nvPr/>
        </p:nvSpPr>
        <p:spPr>
          <a:xfrm>
            <a:off x="618835" y="0"/>
            <a:ext cx="9312565" cy="841486"/>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a:p>
            <a:pPr>
              <a:buClr>
                <a:srgbClr val="000000"/>
              </a:buClr>
            </a:pPr>
            <a:endParaRPr lang="en-US" sz="1267" b="1" dirty="0">
              <a:solidFill>
                <a:srgbClr val="006160"/>
              </a:solidFill>
              <a:latin typeface="Century Gothic" panose="020B0502020202020204" pitchFamily="34" charset="0"/>
              <a:ea typeface="Arial Narrow"/>
              <a:cs typeface="Arial Narrow"/>
              <a:sym typeface="Arial Narrow"/>
            </a:endParaRPr>
          </a:p>
        </p:txBody>
      </p:sp>
    </p:spTree>
    <p:extLst>
      <p:ext uri="{BB962C8B-B14F-4D97-AF65-F5344CB8AC3E}">
        <p14:creationId xmlns:p14="http://schemas.microsoft.com/office/powerpoint/2010/main" val="1028238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25C441A-EF62-39FA-8B6A-96A9B80A0F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643C63-A1CF-C7A7-8AF9-63608EC18417}"/>
              </a:ext>
            </a:extLst>
          </p:cNvPr>
          <p:cNvSpPr txBox="1"/>
          <p:nvPr/>
        </p:nvSpPr>
        <p:spPr>
          <a:xfrm>
            <a:off x="618836" y="741697"/>
            <a:ext cx="9884229" cy="5847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noProof="0" dirty="0">
                <a:solidFill>
                  <a:srgbClr val="1D3784"/>
                </a:solidFill>
                <a:latin typeface="Century Gothic" panose="020B0502020202020204" pitchFamily="34" charset="0"/>
                <a:cs typeface="Arial" panose="020B0604020202020204" pitchFamily="34" charset="0"/>
              </a:rPr>
              <a:t>INTRODUCTION</a:t>
            </a:r>
            <a:endParaRPr kumimoji="0" lang="en-PH" sz="3200" b="1" i="0" u="none" strike="noStrike" kern="1200" cap="none" spc="0" normalizeH="0" baseline="0" noProof="0" dirty="0">
              <a:ln>
                <a:noFill/>
              </a:ln>
              <a:solidFill>
                <a:srgbClr val="1D3784"/>
              </a:solidFill>
              <a:effectLst/>
              <a:uLnTx/>
              <a:uFillTx/>
              <a:latin typeface="Century Gothic" panose="020B0502020202020204" pitchFamily="34" charset="0"/>
              <a:ea typeface="+mn-ea"/>
              <a:cs typeface="Arial" panose="020B0604020202020204" pitchFamily="34" charset="0"/>
            </a:endParaRPr>
          </a:p>
        </p:txBody>
      </p:sp>
      <p:sp>
        <p:nvSpPr>
          <p:cNvPr id="8" name="Google Shape;104;p2"/>
          <p:cNvSpPr txBox="1"/>
          <p:nvPr/>
        </p:nvSpPr>
        <p:spPr>
          <a:xfrm>
            <a:off x="618835" y="0"/>
            <a:ext cx="901093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pic>
        <p:nvPicPr>
          <p:cNvPr id="2" name="Picture 6" descr="Open photo">
            <a:extLst>
              <a:ext uri="{FF2B5EF4-FFF2-40B4-BE49-F238E27FC236}">
                <a16:creationId xmlns:a16="http://schemas.microsoft.com/office/drawing/2014/main" id="{417D16F4-4B93-FC64-C528-BF59B8944E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r="13099" b="-2342"/>
          <a:stretch>
            <a:fillRect/>
          </a:stretch>
        </p:blipFill>
        <p:spPr bwMode="auto">
          <a:xfrm>
            <a:off x="5124304" y="1453397"/>
            <a:ext cx="2735517" cy="78496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No description available.">
            <a:extLst>
              <a:ext uri="{FF2B5EF4-FFF2-40B4-BE49-F238E27FC236}">
                <a16:creationId xmlns:a16="http://schemas.microsoft.com/office/drawing/2014/main" id="{A7D505BE-ADC2-7EA0-2AD2-7DFD4DF7FAB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703"/>
          <a:stretch>
            <a:fillRect/>
          </a:stretch>
        </p:blipFill>
        <p:spPr bwMode="auto">
          <a:xfrm>
            <a:off x="618835" y="2361568"/>
            <a:ext cx="6411116" cy="400518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78F5505-1D4D-AB74-B2A2-EEDE835468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6390" y="2265533"/>
            <a:ext cx="3293557" cy="2121192"/>
          </a:xfrm>
          <a:prstGeom prst="rect">
            <a:avLst/>
          </a:prstGeom>
        </p:spPr>
      </p:pic>
      <p:pic>
        <p:nvPicPr>
          <p:cNvPr id="7" name="Picture 6">
            <a:extLst>
              <a:ext uri="{FF2B5EF4-FFF2-40B4-BE49-F238E27FC236}">
                <a16:creationId xmlns:a16="http://schemas.microsoft.com/office/drawing/2014/main" id="{7B1A2ECB-95AA-00E3-F9A5-04FC999BDB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86440" y="4542591"/>
            <a:ext cx="1567015" cy="2121194"/>
          </a:xfrm>
          <a:prstGeom prst="rect">
            <a:avLst/>
          </a:prstGeom>
        </p:spPr>
      </p:pic>
      <p:pic>
        <p:nvPicPr>
          <p:cNvPr id="10" name="Picture 9">
            <a:extLst>
              <a:ext uri="{FF2B5EF4-FFF2-40B4-BE49-F238E27FC236}">
                <a16:creationId xmlns:a16="http://schemas.microsoft.com/office/drawing/2014/main" id="{5A3577AF-0A48-233E-F977-EEE4770DDB9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79648" y="4525966"/>
            <a:ext cx="1687040" cy="2121194"/>
          </a:xfrm>
          <a:prstGeom prst="rect">
            <a:avLst/>
          </a:prstGeom>
        </p:spPr>
      </p:pic>
      <p:pic>
        <p:nvPicPr>
          <p:cNvPr id="12" name="Picture 11">
            <a:extLst>
              <a:ext uri="{FF2B5EF4-FFF2-40B4-BE49-F238E27FC236}">
                <a16:creationId xmlns:a16="http://schemas.microsoft.com/office/drawing/2014/main" id="{CEF486AF-A49B-9C21-30F0-94CD71B29FC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76508" y="4542592"/>
            <a:ext cx="1687039" cy="2121193"/>
          </a:xfrm>
          <a:prstGeom prst="rect">
            <a:avLst/>
          </a:prstGeom>
        </p:spPr>
      </p:pic>
    </p:spTree>
    <p:extLst>
      <p:ext uri="{BB962C8B-B14F-4D97-AF65-F5344CB8AC3E}">
        <p14:creationId xmlns:p14="http://schemas.microsoft.com/office/powerpoint/2010/main" val="4052923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741697"/>
            <a:ext cx="9884229" cy="5847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noProof="0" dirty="0">
                <a:solidFill>
                  <a:srgbClr val="1D3784"/>
                </a:solidFill>
                <a:latin typeface="Century Gothic" panose="020B0502020202020204" pitchFamily="34" charset="0"/>
                <a:cs typeface="Arial" panose="020B0604020202020204" pitchFamily="34" charset="0"/>
              </a:rPr>
              <a:t>OBJECTIVES</a:t>
            </a:r>
            <a:endParaRPr kumimoji="0" lang="en-PH" sz="3200" b="1" i="0" u="none" strike="noStrike" kern="1200" cap="none" spc="0" normalizeH="0" baseline="0" noProof="0" dirty="0">
              <a:ln>
                <a:noFill/>
              </a:ln>
              <a:solidFill>
                <a:srgbClr val="1D3784"/>
              </a:solidFill>
              <a:effectLst/>
              <a:uLnTx/>
              <a:uFillTx/>
              <a:latin typeface="Century Gothic" panose="020B0502020202020204" pitchFamily="34" charset="0"/>
              <a:ea typeface="+mn-ea"/>
              <a:cs typeface="Arial" panose="020B0604020202020204" pitchFamily="34" charset="0"/>
            </a:endParaRPr>
          </a:p>
        </p:txBody>
      </p:sp>
      <p:sp>
        <p:nvSpPr>
          <p:cNvPr id="5" name="Google Shape;133;p4"/>
          <p:cNvSpPr txBox="1"/>
          <p:nvPr/>
        </p:nvSpPr>
        <p:spPr>
          <a:xfrm>
            <a:off x="711567" y="1034084"/>
            <a:ext cx="11152484" cy="5801588"/>
          </a:xfrm>
          <a:prstGeom prst="rect">
            <a:avLst/>
          </a:prstGeom>
          <a:noFill/>
          <a:ln>
            <a:noFill/>
          </a:ln>
        </p:spPr>
        <p:txBody>
          <a:bodyPr spcFirstLastPara="1" wrap="square" lIns="0" tIns="0" rIns="0" bIns="0" anchor="t" anchorCtr="0">
            <a:spAutoFit/>
          </a:bodyPr>
          <a:lstStyle/>
          <a:p>
            <a:pPr indent="304815" algn="just"/>
            <a:endParaRPr sz="2100" dirty="0">
              <a:solidFill>
                <a:srgbClr val="000000"/>
              </a:solidFill>
              <a:latin typeface="Arial"/>
              <a:ea typeface="Arial"/>
              <a:cs typeface="Arial"/>
              <a:sym typeface="Arial"/>
            </a:endParaRPr>
          </a:p>
          <a:p>
            <a:r>
              <a:rPr lang="en-ID" sz="2400" dirty="0">
                <a:latin typeface="Arial" panose="020B0604020202020204" pitchFamily="34" charset="0"/>
                <a:cs typeface="Arial" panose="020B0604020202020204" pitchFamily="34" charset="0"/>
              </a:rPr>
              <a:t>	</a:t>
            </a:r>
            <a:r>
              <a:rPr lang="en-ID" sz="2200" dirty="0">
                <a:cs typeface="Arial" panose="020B0604020202020204" pitchFamily="34" charset="0"/>
              </a:rPr>
              <a:t>The general objective of this study is to develop and evaluate a real-time anomaly detection system for hybrid power operation using rule-based signal analysis.</a:t>
            </a:r>
          </a:p>
          <a:p>
            <a:endParaRPr lang="en-US" sz="2200" b="1" dirty="0">
              <a:solidFill>
                <a:srgbClr val="000000"/>
              </a:solidFill>
              <a:cs typeface="Arial" panose="020B0604020202020204" pitchFamily="34" charset="0"/>
              <a:sym typeface="Arial"/>
            </a:endParaRPr>
          </a:p>
          <a:p>
            <a:r>
              <a:rPr lang="en-ID" sz="2200" dirty="0">
                <a:cs typeface="Arial" panose="020B0604020202020204" pitchFamily="34" charset="0"/>
              </a:rPr>
              <a:t>This study specifically aims to:</a:t>
            </a:r>
            <a:endParaRPr lang="en-PH" sz="2200" dirty="0">
              <a:cs typeface="Arial" panose="020B0604020202020204" pitchFamily="34" charset="0"/>
            </a:endParaRPr>
          </a:p>
          <a:p>
            <a:pPr marL="457200" lvl="0" indent="-457200">
              <a:buAutoNum type="arabicPeriod"/>
            </a:pPr>
            <a:r>
              <a:rPr lang="en-ID" sz="2200" dirty="0">
                <a:cs typeface="Arial" panose="020B0604020202020204" pitchFamily="34" charset="0"/>
              </a:rPr>
              <a:t>Develop a monitoring and alert feature system that presents detected anomalies and notifies users during abnormal voltage conditions.</a:t>
            </a:r>
          </a:p>
          <a:p>
            <a:pPr marL="457200" lvl="0" indent="-457200">
              <a:buAutoNum type="arabicPeriod"/>
            </a:pPr>
            <a:endParaRPr lang="en-ID" sz="2200" dirty="0">
              <a:cs typeface="Arial" panose="020B0604020202020204" pitchFamily="34" charset="0"/>
            </a:endParaRPr>
          </a:p>
          <a:p>
            <a:pPr marL="457200" lvl="0" indent="-457200">
              <a:buAutoNum type="arabicPeriod"/>
            </a:pPr>
            <a:r>
              <a:rPr lang="en-ID" sz="2200" dirty="0">
                <a:cs typeface="Arial" panose="020B0604020202020204" pitchFamily="34" charset="0"/>
              </a:rPr>
              <a:t>Design a rule-based mechanism for the real-time detection and classification of voltage anomalies, specifically spike, drift, and dropout.</a:t>
            </a:r>
          </a:p>
          <a:p>
            <a:pPr marL="457200" lvl="0" indent="-457200">
              <a:buAutoNum type="arabicPeriod"/>
            </a:pPr>
            <a:endParaRPr lang="en-ID" sz="2200" dirty="0">
              <a:cs typeface="Arial" panose="020B0604020202020204" pitchFamily="34" charset="0"/>
            </a:endParaRPr>
          </a:p>
          <a:p>
            <a:pPr marL="457200" lvl="0" indent="-457200">
              <a:buAutoNum type="arabicPeriod"/>
            </a:pPr>
            <a:r>
              <a:rPr lang="en-ID" sz="2200" dirty="0">
                <a:cs typeface="Arial" panose="020B0604020202020204" pitchFamily="34" charset="0"/>
              </a:rPr>
              <a:t>Evaluate the performance of the developed system in terms of</a:t>
            </a:r>
            <a:r>
              <a:rPr lang="en-PH" sz="2200" dirty="0">
                <a:cs typeface="Arial" panose="020B0604020202020204" pitchFamily="34" charset="0"/>
              </a:rPr>
              <a:t>:</a:t>
            </a:r>
          </a:p>
          <a:p>
            <a:r>
              <a:rPr lang="en-ID" sz="2200" dirty="0">
                <a:cs typeface="Arial" panose="020B0604020202020204" pitchFamily="34" charset="0"/>
              </a:rPr>
              <a:t>      3.1 Accuracy</a:t>
            </a:r>
            <a:endParaRPr lang="en-PH" sz="2200" dirty="0">
              <a:cs typeface="Arial" panose="020B0604020202020204" pitchFamily="34" charset="0"/>
            </a:endParaRPr>
          </a:p>
          <a:p>
            <a:r>
              <a:rPr lang="en-ID" sz="2200" dirty="0">
                <a:cs typeface="Arial" panose="020B0604020202020204" pitchFamily="34" charset="0"/>
              </a:rPr>
              <a:t>      3.2 Precision</a:t>
            </a:r>
            <a:endParaRPr lang="en-PH" sz="2200" dirty="0">
              <a:cs typeface="Arial" panose="020B0604020202020204" pitchFamily="34" charset="0"/>
            </a:endParaRPr>
          </a:p>
          <a:p>
            <a:r>
              <a:rPr lang="en-ID" sz="2200" dirty="0">
                <a:cs typeface="Arial" panose="020B0604020202020204" pitchFamily="34" charset="0"/>
              </a:rPr>
              <a:t>      3.3 Recall</a:t>
            </a:r>
            <a:endParaRPr lang="en-PH" sz="2200" dirty="0">
              <a:cs typeface="Arial" panose="020B0604020202020204" pitchFamily="34" charset="0"/>
            </a:endParaRPr>
          </a:p>
          <a:p>
            <a:r>
              <a:rPr lang="en-ID" sz="2200" dirty="0">
                <a:cs typeface="Arial" panose="020B0604020202020204" pitchFamily="34" charset="0"/>
              </a:rPr>
              <a:t>      3.4 F1-Score</a:t>
            </a:r>
            <a:endParaRPr lang="en-PH" sz="2200" dirty="0">
              <a:cs typeface="Arial" panose="020B0604020202020204" pitchFamily="34" charset="0"/>
            </a:endParaRPr>
          </a:p>
          <a:p>
            <a:endParaRPr lang="en-PH" sz="2400" dirty="0">
              <a:latin typeface="Arial" panose="020B0604020202020204" pitchFamily="34" charset="0"/>
              <a:cs typeface="Arial" panose="020B0604020202020204" pitchFamily="34" charset="0"/>
            </a:endParaRPr>
          </a:p>
        </p:txBody>
      </p:sp>
      <p:sp>
        <p:nvSpPr>
          <p:cNvPr id="7" name="Google Shape;104;p2"/>
          <p:cNvSpPr txBox="1"/>
          <p:nvPr/>
        </p:nvSpPr>
        <p:spPr>
          <a:xfrm>
            <a:off x="618836" y="0"/>
            <a:ext cx="88490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Tree>
    <p:extLst>
      <p:ext uri="{BB962C8B-B14F-4D97-AF65-F5344CB8AC3E}">
        <p14:creationId xmlns:p14="http://schemas.microsoft.com/office/powerpoint/2010/main" val="146887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741697"/>
            <a:ext cx="9884229" cy="5847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noProof="0" dirty="0">
                <a:solidFill>
                  <a:srgbClr val="1D3784"/>
                </a:solidFill>
                <a:latin typeface="Century Gothic" panose="020B0502020202020204" pitchFamily="34" charset="0"/>
                <a:cs typeface="Arial" panose="020B0604020202020204" pitchFamily="34" charset="0"/>
              </a:rPr>
              <a:t>RESEARCH PARADIGM/ FRAMEWORK</a:t>
            </a:r>
            <a:endParaRPr kumimoji="0" lang="en-PH" sz="3200" b="1" i="0" u="none" strike="noStrike" kern="1200" cap="none" spc="0" normalizeH="0" baseline="0" noProof="0" dirty="0">
              <a:ln>
                <a:noFill/>
              </a:ln>
              <a:solidFill>
                <a:srgbClr val="1D3784"/>
              </a:solidFill>
              <a:effectLst/>
              <a:uLnTx/>
              <a:uFillTx/>
              <a:latin typeface="Century Gothic" panose="020B0502020202020204" pitchFamily="34" charset="0"/>
              <a:ea typeface="+mn-ea"/>
              <a:cs typeface="Arial" panose="020B0604020202020204" pitchFamily="34" charset="0"/>
            </a:endParaRPr>
          </a:p>
        </p:txBody>
      </p:sp>
      <p:sp>
        <p:nvSpPr>
          <p:cNvPr id="10" name="Google Shape;104;p2"/>
          <p:cNvSpPr txBox="1"/>
          <p:nvPr/>
        </p:nvSpPr>
        <p:spPr>
          <a:xfrm>
            <a:off x="618836" y="0"/>
            <a:ext cx="905856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pic>
        <p:nvPicPr>
          <p:cNvPr id="2" name="Picture 1">
            <a:extLst>
              <a:ext uri="{FF2B5EF4-FFF2-40B4-BE49-F238E27FC236}">
                <a16:creationId xmlns:a16="http://schemas.microsoft.com/office/drawing/2014/main" id="{E54D0FD4-0704-1464-1CD0-A02C9242336E}"/>
              </a:ext>
            </a:extLst>
          </p:cNvPr>
          <p:cNvPicPr>
            <a:picLocks noChangeAspect="1"/>
          </p:cNvPicPr>
          <p:nvPr/>
        </p:nvPicPr>
        <p:blipFill>
          <a:blip r:embed="rId3"/>
          <a:stretch>
            <a:fillRect/>
          </a:stretch>
        </p:blipFill>
        <p:spPr>
          <a:xfrm>
            <a:off x="3891821" y="1255422"/>
            <a:ext cx="4693335" cy="5436328"/>
          </a:xfrm>
          <a:prstGeom prst="rect">
            <a:avLst/>
          </a:prstGeom>
        </p:spPr>
      </p:pic>
    </p:spTree>
    <p:extLst>
      <p:ext uri="{BB962C8B-B14F-4D97-AF65-F5344CB8AC3E}">
        <p14:creationId xmlns:p14="http://schemas.microsoft.com/office/powerpoint/2010/main" val="3619131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28072" y="739207"/>
            <a:ext cx="10252131"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GENERAL DESCRIPTION AND FEATURES, PARTS AND RELEVANT COMPUTATIONS AND ASSUMPTIONS</a:t>
            </a:r>
          </a:p>
        </p:txBody>
      </p:sp>
      <p:sp>
        <p:nvSpPr>
          <p:cNvPr id="9" name="Google Shape;104;p2"/>
          <p:cNvSpPr txBox="1"/>
          <p:nvPr/>
        </p:nvSpPr>
        <p:spPr>
          <a:xfrm>
            <a:off x="618836" y="0"/>
            <a:ext cx="90395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25" name="TextBox 24">
            <a:extLst>
              <a:ext uri="{FF2B5EF4-FFF2-40B4-BE49-F238E27FC236}">
                <a16:creationId xmlns:a16="http://schemas.microsoft.com/office/drawing/2014/main" id="{92DA7D2C-C8EE-9879-8AB1-228DCEFC02BE}"/>
              </a:ext>
            </a:extLst>
          </p:cNvPr>
          <p:cNvSpPr txBox="1"/>
          <p:nvPr/>
        </p:nvSpPr>
        <p:spPr>
          <a:xfrm>
            <a:off x="4712717" y="6333138"/>
            <a:ext cx="4174188" cy="369332"/>
          </a:xfrm>
          <a:prstGeom prst="rect">
            <a:avLst/>
          </a:prstGeom>
          <a:noFill/>
        </p:spPr>
        <p:txBody>
          <a:bodyPr wrap="square" rtlCol="0">
            <a:spAutoFit/>
          </a:bodyPr>
          <a:lstStyle/>
          <a:p>
            <a:r>
              <a:rPr lang="en-US" i="1" dirty="0"/>
              <a:t>Figure 2: Block Diagram of the System</a:t>
            </a:r>
          </a:p>
        </p:txBody>
      </p:sp>
      <p:pic>
        <p:nvPicPr>
          <p:cNvPr id="3" name="Picture 2">
            <a:extLst>
              <a:ext uri="{FF2B5EF4-FFF2-40B4-BE49-F238E27FC236}">
                <a16:creationId xmlns:a16="http://schemas.microsoft.com/office/drawing/2014/main" id="{F3B9AC87-201F-363A-0ABB-35457B2D39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0438" y="1948313"/>
            <a:ext cx="6467912" cy="4384825"/>
          </a:xfrm>
          <a:prstGeom prst="rect">
            <a:avLst/>
          </a:prstGeom>
        </p:spPr>
      </p:pic>
    </p:spTree>
    <p:extLst>
      <p:ext uri="{BB962C8B-B14F-4D97-AF65-F5344CB8AC3E}">
        <p14:creationId xmlns:p14="http://schemas.microsoft.com/office/powerpoint/2010/main" val="2351025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29D7B41-14D5-85AB-01BC-AA3A759537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1004ED-FF18-58CA-BCB0-4929B3555296}"/>
              </a:ext>
            </a:extLst>
          </p:cNvPr>
          <p:cNvSpPr txBox="1"/>
          <p:nvPr/>
        </p:nvSpPr>
        <p:spPr>
          <a:xfrm>
            <a:off x="628072" y="739207"/>
            <a:ext cx="10252131"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GENERAL DESCRIPTION AND FEATURES, PARTS AND RELEVANT COMPUTATIONS AND ASSUMPTIONS</a:t>
            </a:r>
          </a:p>
        </p:txBody>
      </p:sp>
      <p:sp>
        <p:nvSpPr>
          <p:cNvPr id="9" name="Google Shape;104;p2">
            <a:extLst>
              <a:ext uri="{FF2B5EF4-FFF2-40B4-BE49-F238E27FC236}">
                <a16:creationId xmlns:a16="http://schemas.microsoft.com/office/drawing/2014/main" id="{17D6FD76-7302-144E-C056-9CBCB863A370}"/>
              </a:ext>
            </a:extLst>
          </p:cNvPr>
          <p:cNvSpPr txBox="1"/>
          <p:nvPr/>
        </p:nvSpPr>
        <p:spPr>
          <a:xfrm>
            <a:off x="618836" y="0"/>
            <a:ext cx="90395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25" name="TextBox 24">
            <a:extLst>
              <a:ext uri="{FF2B5EF4-FFF2-40B4-BE49-F238E27FC236}">
                <a16:creationId xmlns:a16="http://schemas.microsoft.com/office/drawing/2014/main" id="{C084A677-C353-F1BB-FB59-088FDCC4762C}"/>
              </a:ext>
            </a:extLst>
          </p:cNvPr>
          <p:cNvSpPr txBox="1"/>
          <p:nvPr/>
        </p:nvSpPr>
        <p:spPr>
          <a:xfrm>
            <a:off x="3765071" y="6399638"/>
            <a:ext cx="5511938" cy="369332"/>
          </a:xfrm>
          <a:prstGeom prst="rect">
            <a:avLst/>
          </a:prstGeom>
          <a:noFill/>
        </p:spPr>
        <p:txBody>
          <a:bodyPr wrap="square" rtlCol="0">
            <a:spAutoFit/>
          </a:bodyPr>
          <a:lstStyle/>
          <a:p>
            <a:r>
              <a:rPr lang="en-US" i="1" dirty="0"/>
              <a:t>Figure 3. </a:t>
            </a:r>
            <a:r>
              <a:rPr lang="en-ID" dirty="0"/>
              <a:t>Overall Flow of the Anomaly Detection System</a:t>
            </a:r>
            <a:endParaRPr lang="en-US" i="1" dirty="0"/>
          </a:p>
        </p:txBody>
      </p:sp>
      <p:pic>
        <p:nvPicPr>
          <p:cNvPr id="5" name="Picture 4">
            <a:extLst>
              <a:ext uri="{FF2B5EF4-FFF2-40B4-BE49-F238E27FC236}">
                <a16:creationId xmlns:a16="http://schemas.microsoft.com/office/drawing/2014/main" id="{94B4C21A-C736-22CD-13AA-C8A59C6879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64873" y="1823659"/>
            <a:ext cx="6245875" cy="4568826"/>
          </a:xfrm>
          <a:prstGeom prst="rect">
            <a:avLst/>
          </a:prstGeom>
        </p:spPr>
      </p:pic>
    </p:spTree>
    <p:extLst>
      <p:ext uri="{BB962C8B-B14F-4D97-AF65-F5344CB8AC3E}">
        <p14:creationId xmlns:p14="http://schemas.microsoft.com/office/powerpoint/2010/main" val="1833474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005A530-A714-BAD6-8458-A12CD2AF35F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11A902C-09CB-1462-DD53-61D1FF1631C6}"/>
              </a:ext>
            </a:extLst>
          </p:cNvPr>
          <p:cNvSpPr txBox="1"/>
          <p:nvPr/>
        </p:nvSpPr>
        <p:spPr>
          <a:xfrm>
            <a:off x="628072" y="739207"/>
            <a:ext cx="10252131"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GENERAL DESCRIPTION AND FEATURES, PARTS AND RELEVANT COMPUTATIONS AND ASSUMPTIONS</a:t>
            </a:r>
          </a:p>
        </p:txBody>
      </p:sp>
      <p:sp>
        <p:nvSpPr>
          <p:cNvPr id="9" name="Google Shape;104;p2">
            <a:extLst>
              <a:ext uri="{FF2B5EF4-FFF2-40B4-BE49-F238E27FC236}">
                <a16:creationId xmlns:a16="http://schemas.microsoft.com/office/drawing/2014/main" id="{D95F9B61-59D3-4860-A2C7-87BDB82626B4}"/>
              </a:ext>
            </a:extLst>
          </p:cNvPr>
          <p:cNvSpPr txBox="1"/>
          <p:nvPr/>
        </p:nvSpPr>
        <p:spPr>
          <a:xfrm>
            <a:off x="618836" y="0"/>
            <a:ext cx="90395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25" name="TextBox 24">
            <a:extLst>
              <a:ext uri="{FF2B5EF4-FFF2-40B4-BE49-F238E27FC236}">
                <a16:creationId xmlns:a16="http://schemas.microsoft.com/office/drawing/2014/main" id="{4C831F23-5239-239C-5797-E4F75F7CB3FC}"/>
              </a:ext>
            </a:extLst>
          </p:cNvPr>
          <p:cNvSpPr txBox="1"/>
          <p:nvPr/>
        </p:nvSpPr>
        <p:spPr>
          <a:xfrm>
            <a:off x="3000276" y="6416263"/>
            <a:ext cx="6658074" cy="646331"/>
          </a:xfrm>
          <a:prstGeom prst="rect">
            <a:avLst/>
          </a:prstGeom>
          <a:noFill/>
        </p:spPr>
        <p:txBody>
          <a:bodyPr wrap="square" rtlCol="0">
            <a:spAutoFit/>
          </a:bodyPr>
          <a:lstStyle/>
          <a:p>
            <a:r>
              <a:rPr lang="en-US" i="1" dirty="0"/>
              <a:t>Figure 3.1. </a:t>
            </a:r>
            <a:r>
              <a:rPr lang="en-ID" dirty="0"/>
              <a:t>Dropout Detection Flowchart for AC Grid Power Source</a:t>
            </a:r>
            <a:endParaRPr lang="en-PH" dirty="0"/>
          </a:p>
          <a:p>
            <a:endParaRPr lang="en-US" i="1" dirty="0"/>
          </a:p>
        </p:txBody>
      </p:sp>
      <p:pic>
        <p:nvPicPr>
          <p:cNvPr id="3" name="Picture 2">
            <a:extLst>
              <a:ext uri="{FF2B5EF4-FFF2-40B4-BE49-F238E27FC236}">
                <a16:creationId xmlns:a16="http://schemas.microsoft.com/office/drawing/2014/main" id="{DBB6FB42-C0A1-20B2-7A71-036AA671E3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7594" y="1647515"/>
            <a:ext cx="7574924" cy="4821865"/>
          </a:xfrm>
          <a:prstGeom prst="rect">
            <a:avLst/>
          </a:prstGeom>
        </p:spPr>
      </p:pic>
    </p:spTree>
    <p:extLst>
      <p:ext uri="{BB962C8B-B14F-4D97-AF65-F5344CB8AC3E}">
        <p14:creationId xmlns:p14="http://schemas.microsoft.com/office/powerpoint/2010/main" val="860117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B95FA3B-3E29-C28D-D09C-6F5F2EEBB1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465D01-02A2-16BC-3AE2-CA1D84AF4EC3}"/>
              </a:ext>
            </a:extLst>
          </p:cNvPr>
          <p:cNvSpPr txBox="1"/>
          <p:nvPr/>
        </p:nvSpPr>
        <p:spPr>
          <a:xfrm>
            <a:off x="628072" y="579269"/>
            <a:ext cx="5855855" cy="2062103"/>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GENERAL DESCRIPTION AND FEATURES, PARTS AND RELEVANT COMPUTATIONS AND ASSUMPTIONS</a:t>
            </a:r>
          </a:p>
        </p:txBody>
      </p:sp>
      <p:sp>
        <p:nvSpPr>
          <p:cNvPr id="9" name="Google Shape;104;p2">
            <a:extLst>
              <a:ext uri="{FF2B5EF4-FFF2-40B4-BE49-F238E27FC236}">
                <a16:creationId xmlns:a16="http://schemas.microsoft.com/office/drawing/2014/main" id="{8D0F15CC-4F13-A599-7F3E-8F0736DF47DE}"/>
              </a:ext>
            </a:extLst>
          </p:cNvPr>
          <p:cNvSpPr txBox="1"/>
          <p:nvPr/>
        </p:nvSpPr>
        <p:spPr>
          <a:xfrm>
            <a:off x="618836" y="0"/>
            <a:ext cx="90395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25" name="TextBox 24">
            <a:extLst>
              <a:ext uri="{FF2B5EF4-FFF2-40B4-BE49-F238E27FC236}">
                <a16:creationId xmlns:a16="http://schemas.microsoft.com/office/drawing/2014/main" id="{4F338B48-10AB-6BFA-3F7A-CEB76BE789F8}"/>
              </a:ext>
            </a:extLst>
          </p:cNvPr>
          <p:cNvSpPr txBox="1"/>
          <p:nvPr/>
        </p:nvSpPr>
        <p:spPr>
          <a:xfrm>
            <a:off x="7140038" y="6328607"/>
            <a:ext cx="5511938" cy="369332"/>
          </a:xfrm>
          <a:prstGeom prst="rect">
            <a:avLst/>
          </a:prstGeom>
          <a:noFill/>
        </p:spPr>
        <p:txBody>
          <a:bodyPr wrap="square" rtlCol="0">
            <a:spAutoFit/>
          </a:bodyPr>
          <a:lstStyle/>
          <a:p>
            <a:r>
              <a:rPr lang="en-US" i="1" dirty="0"/>
              <a:t>Figure 3.2. </a:t>
            </a:r>
            <a:r>
              <a:rPr lang="en-ID" dirty="0"/>
              <a:t>Spike Detection Flowchart</a:t>
            </a:r>
            <a:endParaRPr lang="en-PH" dirty="0"/>
          </a:p>
        </p:txBody>
      </p:sp>
      <p:pic>
        <p:nvPicPr>
          <p:cNvPr id="2" name="Picture 1">
            <a:extLst>
              <a:ext uri="{FF2B5EF4-FFF2-40B4-BE49-F238E27FC236}">
                <a16:creationId xmlns:a16="http://schemas.microsoft.com/office/drawing/2014/main" id="{7E4F1D4E-9B08-3EB1-DA93-2824507491AB}"/>
              </a:ext>
            </a:extLst>
          </p:cNvPr>
          <p:cNvPicPr>
            <a:picLocks noChangeAspect="1"/>
          </p:cNvPicPr>
          <p:nvPr/>
        </p:nvPicPr>
        <p:blipFill>
          <a:blip r:embed="rId3">
            <a:extLst>
              <a:ext uri="{28A0092B-C50C-407E-A947-70E740481C1C}">
                <a14:useLocalDpi xmlns:a14="http://schemas.microsoft.com/office/drawing/2010/main" val="0"/>
              </a:ext>
            </a:extLst>
          </a:blip>
          <a:srcRect l="3825" r="13381"/>
          <a:stretch>
            <a:fillRect/>
          </a:stretch>
        </p:blipFill>
        <p:spPr>
          <a:xfrm>
            <a:off x="6822676" y="739289"/>
            <a:ext cx="4283132" cy="5589318"/>
          </a:xfrm>
          <a:prstGeom prst="rect">
            <a:avLst/>
          </a:prstGeom>
        </p:spPr>
      </p:pic>
    </p:spTree>
    <p:extLst>
      <p:ext uri="{BB962C8B-B14F-4D97-AF65-F5344CB8AC3E}">
        <p14:creationId xmlns:p14="http://schemas.microsoft.com/office/powerpoint/2010/main" val="1015173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F106F08-03EE-5DDC-13BC-7CAD639799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D34863-01F2-52EF-DB82-308352E2233C}"/>
              </a:ext>
            </a:extLst>
          </p:cNvPr>
          <p:cNvSpPr txBox="1"/>
          <p:nvPr/>
        </p:nvSpPr>
        <p:spPr>
          <a:xfrm>
            <a:off x="628072" y="579269"/>
            <a:ext cx="5855855" cy="2062103"/>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GENERAL DESCRIPTION AND FEATURES, PARTS AND RELEVANT COMPUTATIONS AND ASSUMPTIONS</a:t>
            </a:r>
          </a:p>
        </p:txBody>
      </p:sp>
      <p:sp>
        <p:nvSpPr>
          <p:cNvPr id="9" name="Google Shape;104;p2">
            <a:extLst>
              <a:ext uri="{FF2B5EF4-FFF2-40B4-BE49-F238E27FC236}">
                <a16:creationId xmlns:a16="http://schemas.microsoft.com/office/drawing/2014/main" id="{3003B39C-FEB1-0368-E3B2-D317E9F2669F}"/>
              </a:ext>
            </a:extLst>
          </p:cNvPr>
          <p:cNvSpPr txBox="1"/>
          <p:nvPr/>
        </p:nvSpPr>
        <p:spPr>
          <a:xfrm>
            <a:off x="618836" y="0"/>
            <a:ext cx="90395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25" name="TextBox 24">
            <a:extLst>
              <a:ext uri="{FF2B5EF4-FFF2-40B4-BE49-F238E27FC236}">
                <a16:creationId xmlns:a16="http://schemas.microsoft.com/office/drawing/2014/main" id="{3879F395-E956-0B38-2FD3-5E4DF89AE5B4}"/>
              </a:ext>
            </a:extLst>
          </p:cNvPr>
          <p:cNvSpPr txBox="1"/>
          <p:nvPr/>
        </p:nvSpPr>
        <p:spPr>
          <a:xfrm>
            <a:off x="7140038" y="6328607"/>
            <a:ext cx="5511938" cy="369332"/>
          </a:xfrm>
          <a:prstGeom prst="rect">
            <a:avLst/>
          </a:prstGeom>
          <a:noFill/>
        </p:spPr>
        <p:txBody>
          <a:bodyPr wrap="square" rtlCol="0">
            <a:spAutoFit/>
          </a:bodyPr>
          <a:lstStyle/>
          <a:p>
            <a:r>
              <a:rPr lang="en-US" i="1" dirty="0"/>
              <a:t>Figure 3.3. </a:t>
            </a:r>
            <a:r>
              <a:rPr lang="en-ID" dirty="0"/>
              <a:t>Drift Detection Flowchart</a:t>
            </a:r>
            <a:endParaRPr lang="en-PH" dirty="0"/>
          </a:p>
        </p:txBody>
      </p:sp>
      <p:pic>
        <p:nvPicPr>
          <p:cNvPr id="3" name="Picture 2">
            <a:extLst>
              <a:ext uri="{FF2B5EF4-FFF2-40B4-BE49-F238E27FC236}">
                <a16:creationId xmlns:a16="http://schemas.microsoft.com/office/drawing/2014/main" id="{0CFDE28C-5811-CB20-BE6D-5E8A2E9845D7}"/>
              </a:ext>
            </a:extLst>
          </p:cNvPr>
          <p:cNvPicPr>
            <a:picLocks noChangeAspect="1"/>
          </p:cNvPicPr>
          <p:nvPr/>
        </p:nvPicPr>
        <p:blipFill>
          <a:blip r:embed="rId3">
            <a:extLst>
              <a:ext uri="{28A0092B-C50C-407E-A947-70E740481C1C}">
                <a14:useLocalDpi xmlns:a14="http://schemas.microsoft.com/office/drawing/2010/main" val="0"/>
              </a:ext>
            </a:extLst>
          </a:blip>
          <a:srcRect l="10024" r="16217"/>
          <a:stretch>
            <a:fillRect/>
          </a:stretch>
        </p:blipFill>
        <p:spPr>
          <a:xfrm>
            <a:off x="6990410" y="735425"/>
            <a:ext cx="3766260" cy="5593182"/>
          </a:xfrm>
          <a:prstGeom prst="rect">
            <a:avLst/>
          </a:prstGeom>
        </p:spPr>
      </p:pic>
    </p:spTree>
    <p:extLst>
      <p:ext uri="{BB962C8B-B14F-4D97-AF65-F5344CB8AC3E}">
        <p14:creationId xmlns:p14="http://schemas.microsoft.com/office/powerpoint/2010/main" val="1220270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9" name="Google Shape;104;p2"/>
          <p:cNvSpPr txBox="1"/>
          <p:nvPr/>
        </p:nvSpPr>
        <p:spPr>
          <a:xfrm>
            <a:off x="618836" y="0"/>
            <a:ext cx="90395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12" name="TextBox 11">
            <a:extLst>
              <a:ext uri="{FF2B5EF4-FFF2-40B4-BE49-F238E27FC236}">
                <a16:creationId xmlns:a16="http://schemas.microsoft.com/office/drawing/2014/main" id="{4C189C33-CB7F-EF98-FDA0-D09D2D33DC68}"/>
              </a:ext>
            </a:extLst>
          </p:cNvPr>
          <p:cNvSpPr txBox="1"/>
          <p:nvPr/>
        </p:nvSpPr>
        <p:spPr>
          <a:xfrm>
            <a:off x="628072" y="739207"/>
            <a:ext cx="10252131"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GENERAL DESCRIPTION AND FEATURES, PARTS AND RELEVANT COMPUTATIONS AND ASSUMPTIONS</a:t>
            </a:r>
          </a:p>
        </p:txBody>
      </p:sp>
      <p:pic>
        <p:nvPicPr>
          <p:cNvPr id="4" name="Picture 3">
            <a:extLst>
              <a:ext uri="{FF2B5EF4-FFF2-40B4-BE49-F238E27FC236}">
                <a16:creationId xmlns:a16="http://schemas.microsoft.com/office/drawing/2014/main" id="{EDFD06C7-17F7-16F4-D375-A23F065C201D}"/>
              </a:ext>
            </a:extLst>
          </p:cNvPr>
          <p:cNvPicPr>
            <a:picLocks noChangeAspect="1"/>
          </p:cNvPicPr>
          <p:nvPr/>
        </p:nvPicPr>
        <p:blipFill>
          <a:blip r:embed="rId3"/>
          <a:srcRect t="13944"/>
          <a:stretch>
            <a:fillRect/>
          </a:stretch>
        </p:blipFill>
        <p:spPr>
          <a:xfrm>
            <a:off x="2946449" y="2044931"/>
            <a:ext cx="6918195" cy="4073861"/>
          </a:xfrm>
          <a:prstGeom prst="rect">
            <a:avLst/>
          </a:prstGeom>
        </p:spPr>
      </p:pic>
      <p:sp>
        <p:nvSpPr>
          <p:cNvPr id="7" name="TextBox 6">
            <a:extLst>
              <a:ext uri="{FF2B5EF4-FFF2-40B4-BE49-F238E27FC236}">
                <a16:creationId xmlns:a16="http://schemas.microsoft.com/office/drawing/2014/main" id="{2B434A0B-7D9C-E59B-3F1F-A69C1D3E10E7}"/>
              </a:ext>
            </a:extLst>
          </p:cNvPr>
          <p:cNvSpPr txBox="1"/>
          <p:nvPr/>
        </p:nvSpPr>
        <p:spPr>
          <a:xfrm>
            <a:off x="3981205" y="6336644"/>
            <a:ext cx="5511938" cy="369332"/>
          </a:xfrm>
          <a:prstGeom prst="rect">
            <a:avLst/>
          </a:prstGeom>
          <a:noFill/>
        </p:spPr>
        <p:txBody>
          <a:bodyPr wrap="square" rtlCol="0">
            <a:spAutoFit/>
          </a:bodyPr>
          <a:lstStyle/>
          <a:p>
            <a:r>
              <a:rPr lang="en-US" dirty="0"/>
              <a:t>Figure 4. Hardware Setup for Low-Voltage Pre-Testing</a:t>
            </a:r>
            <a:endParaRPr lang="en-PH" dirty="0"/>
          </a:p>
        </p:txBody>
      </p:sp>
    </p:spTree>
    <p:extLst>
      <p:ext uri="{BB962C8B-B14F-4D97-AF65-F5344CB8AC3E}">
        <p14:creationId xmlns:p14="http://schemas.microsoft.com/office/powerpoint/2010/main" val="692084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B10A471-DC61-BE38-AE71-32A0A4F05AB1}"/>
            </a:ext>
          </a:extLst>
        </p:cNvPr>
        <p:cNvGrpSpPr/>
        <p:nvPr/>
      </p:nvGrpSpPr>
      <p:grpSpPr>
        <a:xfrm>
          <a:off x="0" y="0"/>
          <a:ext cx="0" cy="0"/>
          <a:chOff x="0" y="0"/>
          <a:chExt cx="0" cy="0"/>
        </a:xfrm>
      </p:grpSpPr>
      <p:sp>
        <p:nvSpPr>
          <p:cNvPr id="9" name="Google Shape;104;p2">
            <a:extLst>
              <a:ext uri="{FF2B5EF4-FFF2-40B4-BE49-F238E27FC236}">
                <a16:creationId xmlns:a16="http://schemas.microsoft.com/office/drawing/2014/main" id="{BD9DF399-5AEF-C9E8-8B08-F2B6F256A115}"/>
              </a:ext>
            </a:extLst>
          </p:cNvPr>
          <p:cNvSpPr txBox="1"/>
          <p:nvPr/>
        </p:nvSpPr>
        <p:spPr>
          <a:xfrm>
            <a:off x="618836" y="0"/>
            <a:ext cx="90395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12" name="TextBox 11">
            <a:extLst>
              <a:ext uri="{FF2B5EF4-FFF2-40B4-BE49-F238E27FC236}">
                <a16:creationId xmlns:a16="http://schemas.microsoft.com/office/drawing/2014/main" id="{5EBB435F-F4BE-A1D3-CEA8-6177D55309DC}"/>
              </a:ext>
            </a:extLst>
          </p:cNvPr>
          <p:cNvSpPr txBox="1"/>
          <p:nvPr/>
        </p:nvSpPr>
        <p:spPr>
          <a:xfrm>
            <a:off x="628072" y="739207"/>
            <a:ext cx="10252131"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GENERAL DESCRIPTION AND FEATURES, PARTS AND RELEVANT COMPUTATIONS AND ASSUMPTIONS</a:t>
            </a:r>
          </a:p>
        </p:txBody>
      </p:sp>
      <p:sp>
        <p:nvSpPr>
          <p:cNvPr id="7" name="TextBox 6">
            <a:extLst>
              <a:ext uri="{FF2B5EF4-FFF2-40B4-BE49-F238E27FC236}">
                <a16:creationId xmlns:a16="http://schemas.microsoft.com/office/drawing/2014/main" id="{6794F355-8AAF-709A-33FB-3600069DD9B0}"/>
              </a:ext>
            </a:extLst>
          </p:cNvPr>
          <p:cNvSpPr txBox="1"/>
          <p:nvPr/>
        </p:nvSpPr>
        <p:spPr>
          <a:xfrm>
            <a:off x="3340031" y="6268839"/>
            <a:ext cx="5511938" cy="646331"/>
          </a:xfrm>
          <a:prstGeom prst="rect">
            <a:avLst/>
          </a:prstGeom>
          <a:noFill/>
        </p:spPr>
        <p:txBody>
          <a:bodyPr wrap="square" rtlCol="0">
            <a:spAutoFit/>
          </a:bodyPr>
          <a:lstStyle/>
          <a:p>
            <a:pPr algn="ctr"/>
            <a:r>
              <a:rPr lang="en-ID" dirty="0"/>
              <a:t>Figure 5. Conceptual design of the real-time hybrid power voltage anomaly detection system </a:t>
            </a:r>
          </a:p>
        </p:txBody>
      </p:sp>
      <p:pic>
        <p:nvPicPr>
          <p:cNvPr id="3" name="Picture 2">
            <a:extLst>
              <a:ext uri="{FF2B5EF4-FFF2-40B4-BE49-F238E27FC236}">
                <a16:creationId xmlns:a16="http://schemas.microsoft.com/office/drawing/2014/main" id="{E6DBE0C0-2219-1BB6-B559-FBF75155C87A}"/>
              </a:ext>
            </a:extLst>
          </p:cNvPr>
          <p:cNvPicPr>
            <a:picLocks noChangeAspect="1"/>
          </p:cNvPicPr>
          <p:nvPr/>
        </p:nvPicPr>
        <p:blipFill>
          <a:blip r:embed="rId3"/>
          <a:stretch>
            <a:fillRect/>
          </a:stretch>
        </p:blipFill>
        <p:spPr>
          <a:xfrm>
            <a:off x="3354391" y="1713978"/>
            <a:ext cx="5030698" cy="4653989"/>
          </a:xfrm>
          <a:prstGeom prst="rect">
            <a:avLst/>
          </a:prstGeom>
        </p:spPr>
      </p:pic>
    </p:spTree>
    <p:extLst>
      <p:ext uri="{BB962C8B-B14F-4D97-AF65-F5344CB8AC3E}">
        <p14:creationId xmlns:p14="http://schemas.microsoft.com/office/powerpoint/2010/main" val="4094968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290050A-1D1F-22EB-A82A-E5106BAB53C6}"/>
            </a:ext>
          </a:extLst>
        </p:cNvPr>
        <p:cNvGrpSpPr/>
        <p:nvPr/>
      </p:nvGrpSpPr>
      <p:grpSpPr>
        <a:xfrm>
          <a:off x="0" y="0"/>
          <a:ext cx="0" cy="0"/>
          <a:chOff x="0" y="0"/>
          <a:chExt cx="0" cy="0"/>
        </a:xfrm>
      </p:grpSpPr>
      <p:sp>
        <p:nvSpPr>
          <p:cNvPr id="9" name="Google Shape;104;p2">
            <a:extLst>
              <a:ext uri="{FF2B5EF4-FFF2-40B4-BE49-F238E27FC236}">
                <a16:creationId xmlns:a16="http://schemas.microsoft.com/office/drawing/2014/main" id="{0D441EF4-0A39-6747-559E-7CAD897C3B32}"/>
              </a:ext>
            </a:extLst>
          </p:cNvPr>
          <p:cNvSpPr txBox="1"/>
          <p:nvPr/>
        </p:nvSpPr>
        <p:spPr>
          <a:xfrm>
            <a:off x="618836" y="0"/>
            <a:ext cx="90395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12" name="TextBox 11">
            <a:extLst>
              <a:ext uri="{FF2B5EF4-FFF2-40B4-BE49-F238E27FC236}">
                <a16:creationId xmlns:a16="http://schemas.microsoft.com/office/drawing/2014/main" id="{3E032B14-14B0-2FA5-4DA9-2BFDE3388C85}"/>
              </a:ext>
            </a:extLst>
          </p:cNvPr>
          <p:cNvSpPr txBox="1"/>
          <p:nvPr/>
        </p:nvSpPr>
        <p:spPr>
          <a:xfrm>
            <a:off x="628072" y="739207"/>
            <a:ext cx="10252131"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GENERAL DESCRIPTION AND FEATURES, PARTS AND RELEVANT COMPUTATIONS AND ASSUMPTIONS</a:t>
            </a:r>
          </a:p>
        </p:txBody>
      </p:sp>
      <p:pic>
        <p:nvPicPr>
          <p:cNvPr id="5" name="Picture 4">
            <a:extLst>
              <a:ext uri="{FF2B5EF4-FFF2-40B4-BE49-F238E27FC236}">
                <a16:creationId xmlns:a16="http://schemas.microsoft.com/office/drawing/2014/main" id="{784388AB-3C33-5D88-DBB9-6188A37BB5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86051" y="1816425"/>
            <a:ext cx="6051861" cy="4302368"/>
          </a:xfrm>
          <a:prstGeom prst="rect">
            <a:avLst/>
          </a:prstGeom>
        </p:spPr>
      </p:pic>
      <p:sp>
        <p:nvSpPr>
          <p:cNvPr id="6" name="TextBox 5">
            <a:extLst>
              <a:ext uri="{FF2B5EF4-FFF2-40B4-BE49-F238E27FC236}">
                <a16:creationId xmlns:a16="http://schemas.microsoft.com/office/drawing/2014/main" id="{422720DE-7E88-747D-CD92-FF4467E488B1}"/>
              </a:ext>
            </a:extLst>
          </p:cNvPr>
          <p:cNvSpPr txBox="1"/>
          <p:nvPr/>
        </p:nvSpPr>
        <p:spPr>
          <a:xfrm>
            <a:off x="3677204" y="6118793"/>
            <a:ext cx="5511938" cy="646331"/>
          </a:xfrm>
          <a:prstGeom prst="rect">
            <a:avLst/>
          </a:prstGeom>
          <a:noFill/>
        </p:spPr>
        <p:txBody>
          <a:bodyPr wrap="square" rtlCol="0">
            <a:spAutoFit/>
          </a:bodyPr>
          <a:lstStyle/>
          <a:p>
            <a:pPr algn="ctr"/>
            <a:r>
              <a:rPr lang="en-US" dirty="0"/>
              <a:t>Figure 6. </a:t>
            </a:r>
            <a:r>
              <a:rPr lang="en-ID" dirty="0"/>
              <a:t>Physical setup of the solar panel installation in the hybrid power system</a:t>
            </a:r>
            <a:endParaRPr lang="en-PH" dirty="0"/>
          </a:p>
        </p:txBody>
      </p:sp>
    </p:spTree>
    <p:extLst>
      <p:ext uri="{BB962C8B-B14F-4D97-AF65-F5344CB8AC3E}">
        <p14:creationId xmlns:p14="http://schemas.microsoft.com/office/powerpoint/2010/main" val="4087578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9" name="Google Shape;104;p2"/>
          <p:cNvSpPr txBox="1"/>
          <p:nvPr/>
        </p:nvSpPr>
        <p:spPr>
          <a:xfrm>
            <a:off x="618836" y="0"/>
            <a:ext cx="90395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8" name="Rectangle 7"/>
          <p:cNvSpPr/>
          <p:nvPr/>
        </p:nvSpPr>
        <p:spPr>
          <a:xfrm>
            <a:off x="1200717" y="6345518"/>
            <a:ext cx="7519686" cy="369332"/>
          </a:xfrm>
          <a:prstGeom prst="rect">
            <a:avLst/>
          </a:prstGeom>
        </p:spPr>
        <p:txBody>
          <a:bodyPr wrap="square">
            <a:spAutoFit/>
          </a:bodyPr>
          <a:lstStyle/>
          <a:p>
            <a:r>
              <a:rPr lang="en-ID" dirty="0"/>
              <a:t>Figure 7. Schematic Diagram of the Proposed System</a:t>
            </a:r>
          </a:p>
        </p:txBody>
      </p:sp>
      <p:sp>
        <p:nvSpPr>
          <p:cNvPr id="12" name="TextBox 11">
            <a:extLst>
              <a:ext uri="{FF2B5EF4-FFF2-40B4-BE49-F238E27FC236}">
                <a16:creationId xmlns:a16="http://schemas.microsoft.com/office/drawing/2014/main" id="{4C189C33-CB7F-EF98-FDA0-D09D2D33DC68}"/>
              </a:ext>
            </a:extLst>
          </p:cNvPr>
          <p:cNvSpPr txBox="1"/>
          <p:nvPr/>
        </p:nvSpPr>
        <p:spPr>
          <a:xfrm>
            <a:off x="628073" y="749094"/>
            <a:ext cx="10244973"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GENERAL DESCRIPTION AND FEATURES, PARTS AND RELEVANT COMPUTATIONS AND ASSUMPTIONS</a:t>
            </a:r>
          </a:p>
        </p:txBody>
      </p:sp>
      <p:pic>
        <p:nvPicPr>
          <p:cNvPr id="2" name="Picture 1">
            <a:extLst>
              <a:ext uri="{FF2B5EF4-FFF2-40B4-BE49-F238E27FC236}">
                <a16:creationId xmlns:a16="http://schemas.microsoft.com/office/drawing/2014/main" id="{25CDF7A7-B08B-8A62-2C6B-C9314660DA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0263" y="2202938"/>
            <a:ext cx="5281838" cy="3946712"/>
          </a:xfrm>
          <a:prstGeom prst="rect">
            <a:avLst/>
          </a:prstGeom>
        </p:spPr>
      </p:pic>
      <p:pic>
        <p:nvPicPr>
          <p:cNvPr id="5" name="Picture 4">
            <a:extLst>
              <a:ext uri="{FF2B5EF4-FFF2-40B4-BE49-F238E27FC236}">
                <a16:creationId xmlns:a16="http://schemas.microsoft.com/office/drawing/2014/main" id="{7028E29C-CD40-034B-46DE-20F4C35EE4B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1841" r="22701"/>
          <a:stretch>
            <a:fillRect/>
          </a:stretch>
        </p:blipFill>
        <p:spPr bwMode="auto">
          <a:xfrm>
            <a:off x="6793700" y="1864985"/>
            <a:ext cx="4310692" cy="4483411"/>
          </a:xfrm>
          <a:prstGeom prst="rect">
            <a:avLst/>
          </a:prstGeom>
          <a:noFill/>
          <a:ln>
            <a:noFill/>
          </a:ln>
          <a:extLst>
            <a:ext uri="{53640926-AAD7-44D8-BBD7-CCE9431645EC}">
              <a14:shadowObscured xmlns:a14="http://schemas.microsoft.com/office/drawing/2010/main"/>
            </a:ext>
          </a:extLst>
        </p:spPr>
      </p:pic>
      <p:sp>
        <p:nvSpPr>
          <p:cNvPr id="6" name="Rectangle 5">
            <a:extLst>
              <a:ext uri="{FF2B5EF4-FFF2-40B4-BE49-F238E27FC236}">
                <a16:creationId xmlns:a16="http://schemas.microsoft.com/office/drawing/2014/main" id="{048C03B7-881F-5C4F-174D-E9BA439A0C6D}"/>
              </a:ext>
            </a:extLst>
          </p:cNvPr>
          <p:cNvSpPr/>
          <p:nvPr/>
        </p:nvSpPr>
        <p:spPr>
          <a:xfrm>
            <a:off x="6600863" y="6334316"/>
            <a:ext cx="7519686" cy="369332"/>
          </a:xfrm>
          <a:prstGeom prst="rect">
            <a:avLst/>
          </a:prstGeom>
        </p:spPr>
        <p:txBody>
          <a:bodyPr wrap="square">
            <a:spAutoFit/>
          </a:bodyPr>
          <a:lstStyle/>
          <a:p>
            <a:r>
              <a:rPr lang="en-ID" dirty="0"/>
              <a:t>Figure 8. Pictorial Diagram of the Proposed System</a:t>
            </a:r>
          </a:p>
        </p:txBody>
      </p:sp>
    </p:spTree>
    <p:extLst>
      <p:ext uri="{BB962C8B-B14F-4D97-AF65-F5344CB8AC3E}">
        <p14:creationId xmlns:p14="http://schemas.microsoft.com/office/powerpoint/2010/main" val="4087678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9" name="Google Shape;104;p2"/>
          <p:cNvSpPr txBox="1"/>
          <p:nvPr/>
        </p:nvSpPr>
        <p:spPr>
          <a:xfrm>
            <a:off x="618836" y="0"/>
            <a:ext cx="9039514"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10" name="TextBox 9">
            <a:extLst>
              <a:ext uri="{FF2B5EF4-FFF2-40B4-BE49-F238E27FC236}">
                <a16:creationId xmlns:a16="http://schemas.microsoft.com/office/drawing/2014/main" id="{4C189C33-CB7F-EF98-FDA0-D09D2D33DC68}"/>
              </a:ext>
            </a:extLst>
          </p:cNvPr>
          <p:cNvSpPr txBox="1"/>
          <p:nvPr/>
        </p:nvSpPr>
        <p:spPr>
          <a:xfrm>
            <a:off x="628072" y="739207"/>
            <a:ext cx="10252131"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GENERAL DESCRIPTION AND FEATURES, PARTS AND RELEVANT COMPUTATIONS AND ASSUMPTIONS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EB8AD4-3ED5-D91A-A00B-26136CC0A074}"/>
                  </a:ext>
                </a:extLst>
              </p:cNvPr>
              <p:cNvSpPr txBox="1"/>
              <p:nvPr/>
            </p:nvSpPr>
            <p:spPr>
              <a:xfrm>
                <a:off x="3110971" y="2123737"/>
                <a:ext cx="7946406" cy="856004"/>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rtlCol="0">
                <a:spAutoFit/>
              </a:bodyPr>
              <a:lstStyle/>
              <a:p>
                <a:r>
                  <a:rPr lang="pt-BR" dirty="0"/>
                  <a:t>Accuracy </a:t>
                </a:r>
                <a14:m>
                  <m:oMath xmlns:m="http://schemas.openxmlformats.org/officeDocument/2006/math">
                    <m:r>
                      <a:rPr lang="pt-BR" sz="2400" i="1" smtClean="0">
                        <a:latin typeface="Cambria Math" panose="02040503050406030204" pitchFamily="18" charset="0"/>
                      </a:rPr>
                      <m:t>=</m:t>
                    </m:r>
                    <m:f>
                      <m:fPr>
                        <m:ctrlPr>
                          <a:rPr lang="en-ID" sz="2400" i="1">
                            <a:latin typeface="Cambria Math" panose="02040503050406030204" pitchFamily="18" charset="0"/>
                          </a:rPr>
                        </m:ctrlPr>
                      </m:fPr>
                      <m:num>
                        <m:r>
                          <a:rPr lang="en-ID" sz="2400" i="1">
                            <a:latin typeface="Cambria Math" panose="02040503050406030204" pitchFamily="18" charset="0"/>
                          </a:rPr>
                          <m:t>𝑇𝑟𝑢𝑒</m:t>
                        </m:r>
                        <m:r>
                          <a:rPr lang="en-ID" sz="2400" i="1">
                            <a:latin typeface="Cambria Math" panose="02040503050406030204" pitchFamily="18" charset="0"/>
                          </a:rPr>
                          <m:t> </m:t>
                        </m:r>
                        <m:r>
                          <a:rPr lang="en-ID" sz="2400" i="1">
                            <a:latin typeface="Cambria Math" panose="02040503050406030204" pitchFamily="18" charset="0"/>
                          </a:rPr>
                          <m:t>𝑃𝑜𝑠𝑖𝑡𝑖𝑣𝑒𝑠</m:t>
                        </m:r>
                        <m:r>
                          <a:rPr lang="en-ID" sz="2400" i="1">
                            <a:latin typeface="Cambria Math" panose="02040503050406030204" pitchFamily="18" charset="0"/>
                          </a:rPr>
                          <m:t>+</m:t>
                        </m:r>
                        <m:r>
                          <a:rPr lang="en-ID" sz="2400" i="1">
                            <a:latin typeface="Cambria Math" panose="02040503050406030204" pitchFamily="18" charset="0"/>
                          </a:rPr>
                          <m:t>𝑇𝑟𝑢𝑒</m:t>
                        </m:r>
                        <m:r>
                          <a:rPr lang="en-ID" sz="2400" i="1">
                            <a:latin typeface="Cambria Math" panose="02040503050406030204" pitchFamily="18" charset="0"/>
                          </a:rPr>
                          <m:t> </m:t>
                        </m:r>
                        <m:r>
                          <a:rPr lang="en-ID" sz="2400" i="1">
                            <a:latin typeface="Cambria Math" panose="02040503050406030204" pitchFamily="18" charset="0"/>
                          </a:rPr>
                          <m:t>𝑁𝑒𝑔𝑎𝑡𝑖𝑣𝑒𝑠</m:t>
                        </m:r>
                      </m:num>
                      <m:den>
                        <m:r>
                          <a:rPr lang="en-ID" sz="2400" i="1">
                            <a:latin typeface="Cambria Math" panose="02040503050406030204" pitchFamily="18" charset="0"/>
                          </a:rPr>
                          <m:t>𝑇𝑟𝑢𝑒</m:t>
                        </m:r>
                        <m:r>
                          <a:rPr lang="en-ID" sz="2400" i="1">
                            <a:latin typeface="Cambria Math" panose="02040503050406030204" pitchFamily="18" charset="0"/>
                          </a:rPr>
                          <m:t> </m:t>
                        </m:r>
                        <m:r>
                          <a:rPr lang="en-ID" sz="2400" i="1">
                            <a:latin typeface="Cambria Math" panose="02040503050406030204" pitchFamily="18" charset="0"/>
                          </a:rPr>
                          <m:t>𝑃𝑜𝑠𝑖𝑡𝑖𝑣𝑒𝑠</m:t>
                        </m:r>
                        <m:r>
                          <a:rPr lang="en-ID" sz="2400" i="1">
                            <a:latin typeface="Cambria Math" panose="02040503050406030204" pitchFamily="18" charset="0"/>
                          </a:rPr>
                          <m:t>+</m:t>
                        </m:r>
                        <m:r>
                          <a:rPr lang="en-ID" sz="2400" i="1">
                            <a:latin typeface="Cambria Math" panose="02040503050406030204" pitchFamily="18" charset="0"/>
                          </a:rPr>
                          <m:t>𝑇𝑟𝑢𝑒</m:t>
                        </m:r>
                        <m:r>
                          <a:rPr lang="en-ID" sz="2400" i="1">
                            <a:latin typeface="Cambria Math" panose="02040503050406030204" pitchFamily="18" charset="0"/>
                          </a:rPr>
                          <m:t> </m:t>
                        </m:r>
                        <m:r>
                          <a:rPr lang="en-ID" sz="2400" i="1">
                            <a:latin typeface="Cambria Math" panose="02040503050406030204" pitchFamily="18" charset="0"/>
                          </a:rPr>
                          <m:t>𝑁𝑒𝑔𝑎𝑡𝑖𝑣𝑒𝑠</m:t>
                        </m:r>
                        <m:r>
                          <a:rPr lang="en-ID" sz="2400" i="1">
                            <a:latin typeface="Cambria Math" panose="02040503050406030204" pitchFamily="18" charset="0"/>
                          </a:rPr>
                          <m:t>+</m:t>
                        </m:r>
                        <m:r>
                          <a:rPr lang="en-ID" sz="2400" i="1">
                            <a:latin typeface="Cambria Math" panose="02040503050406030204" pitchFamily="18" charset="0"/>
                          </a:rPr>
                          <m:t>𝐹𝑎𝑙𝑠𝑒</m:t>
                        </m:r>
                        <m:r>
                          <a:rPr lang="en-ID" sz="2400" i="1">
                            <a:latin typeface="Cambria Math" panose="02040503050406030204" pitchFamily="18" charset="0"/>
                          </a:rPr>
                          <m:t> </m:t>
                        </m:r>
                        <m:r>
                          <a:rPr lang="en-ID" sz="2400" i="1">
                            <a:latin typeface="Cambria Math" panose="02040503050406030204" pitchFamily="18" charset="0"/>
                          </a:rPr>
                          <m:t>𝑃𝑜𝑠𝑖𝑡𝑖𝑣𝑒𝑠</m:t>
                        </m:r>
                        <m:r>
                          <a:rPr lang="en-ID" sz="2400" i="1">
                            <a:latin typeface="Cambria Math" panose="02040503050406030204" pitchFamily="18" charset="0"/>
                          </a:rPr>
                          <m:t>+</m:t>
                        </m:r>
                        <m:r>
                          <a:rPr lang="en-ID" sz="2400" i="1">
                            <a:latin typeface="Cambria Math" panose="02040503050406030204" pitchFamily="18" charset="0"/>
                          </a:rPr>
                          <m:t>𝐹𝑎𝑙𝑠𝑒</m:t>
                        </m:r>
                        <m:r>
                          <a:rPr lang="en-ID" sz="2400" i="1">
                            <a:latin typeface="Cambria Math" panose="02040503050406030204" pitchFamily="18" charset="0"/>
                          </a:rPr>
                          <m:t> </m:t>
                        </m:r>
                        <m:r>
                          <a:rPr lang="en-ID" sz="2400" i="1">
                            <a:latin typeface="Cambria Math" panose="02040503050406030204" pitchFamily="18" charset="0"/>
                          </a:rPr>
                          <m:t>𝑁𝑒𝑔𝑎𝑡𝑖𝑣𝑒𝑠</m:t>
                        </m:r>
                      </m:den>
                    </m:f>
                  </m:oMath>
                </a14:m>
                <a:endParaRPr lang="en-ID" sz="2400" dirty="0"/>
              </a:p>
              <a:p>
                <a:endParaRPr lang="en-ID" dirty="0"/>
              </a:p>
            </p:txBody>
          </p:sp>
        </mc:Choice>
        <mc:Fallback xmlns="">
          <p:sp>
            <p:nvSpPr>
              <p:cNvPr id="5" name="TextBox 4">
                <a:extLst>
                  <a:ext uri="{FF2B5EF4-FFF2-40B4-BE49-F238E27FC236}">
                    <a16:creationId xmlns:a16="http://schemas.microsoft.com/office/drawing/2014/main" id="{63EB8AD4-3ED5-D91A-A00B-26136CC0A074}"/>
                  </a:ext>
                </a:extLst>
              </p:cNvPr>
              <p:cNvSpPr txBox="1">
                <a:spLocks noRot="1" noChangeAspect="1" noMove="1" noResize="1" noEditPoints="1" noAdjustHandles="1" noChangeArrowheads="1" noChangeShapeType="1" noTextEdit="1"/>
              </p:cNvSpPr>
              <p:nvPr/>
            </p:nvSpPr>
            <p:spPr>
              <a:xfrm>
                <a:off x="3110971" y="2123737"/>
                <a:ext cx="7946406" cy="856004"/>
              </a:xfrm>
              <a:prstGeom prst="rect">
                <a:avLst/>
              </a:prstGeom>
              <a:blipFill>
                <a:blip r:embed="rId3"/>
                <a:stretch>
                  <a:fillRect l="-1604"/>
                </a:stretch>
              </a:blipFill>
              <a:ln w="28575"/>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4A29259-8901-ECBE-2B4E-6BFB57D9CC26}"/>
                  </a:ext>
                </a:extLst>
              </p:cNvPr>
              <p:cNvSpPr txBox="1"/>
              <p:nvPr/>
            </p:nvSpPr>
            <p:spPr>
              <a:xfrm>
                <a:off x="3141302" y="3340537"/>
                <a:ext cx="4712380" cy="800155"/>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D" i="1">
                          <a:latin typeface="Cambria Math" panose="02040503050406030204" pitchFamily="18" charset="0"/>
                        </a:rPr>
                        <m:t>𝑃𝑟𝑒𝑐𝑖𝑠𝑖𝑜𝑛</m:t>
                      </m:r>
                      <m:r>
                        <a:rPr lang="en-ID" i="1">
                          <a:latin typeface="Cambria Math" panose="02040503050406030204" pitchFamily="18" charset="0"/>
                        </a:rPr>
                        <m:t>=</m:t>
                      </m:r>
                      <m:f>
                        <m:fPr>
                          <m:ctrlPr>
                            <a:rPr lang="en-ID" i="1">
                              <a:latin typeface="Cambria Math" panose="02040503050406030204" pitchFamily="18" charset="0"/>
                            </a:rPr>
                          </m:ctrlPr>
                        </m:fPr>
                        <m:num>
                          <m:r>
                            <a:rPr lang="en-ID" i="1">
                              <a:latin typeface="Cambria Math" panose="02040503050406030204" pitchFamily="18" charset="0"/>
                            </a:rPr>
                            <m:t>𝑇𝑟𝑢𝑒</m:t>
                          </m:r>
                          <m:r>
                            <a:rPr lang="en-ID" i="1">
                              <a:latin typeface="Cambria Math" panose="02040503050406030204" pitchFamily="18" charset="0"/>
                            </a:rPr>
                            <m:t> </m:t>
                          </m:r>
                          <m:r>
                            <a:rPr lang="en-ID" i="1">
                              <a:latin typeface="Cambria Math" panose="02040503050406030204" pitchFamily="18" charset="0"/>
                            </a:rPr>
                            <m:t>𝑃𝑜𝑠𝑖𝑡𝑖𝑣𝑒𝑠</m:t>
                          </m:r>
                        </m:num>
                        <m:den>
                          <m:r>
                            <a:rPr lang="en-ID" i="1">
                              <a:latin typeface="Cambria Math" panose="02040503050406030204" pitchFamily="18" charset="0"/>
                            </a:rPr>
                            <m:t>𝑇𝑟𝑢𝑒</m:t>
                          </m:r>
                          <m:r>
                            <a:rPr lang="en-ID" i="1">
                              <a:latin typeface="Cambria Math" panose="02040503050406030204" pitchFamily="18" charset="0"/>
                            </a:rPr>
                            <m:t> </m:t>
                          </m:r>
                          <m:r>
                            <a:rPr lang="en-ID" i="1">
                              <a:latin typeface="Cambria Math" panose="02040503050406030204" pitchFamily="18" charset="0"/>
                            </a:rPr>
                            <m:t>𝑃𝑜𝑠𝑖𝑡𝑖𝑣𝑒𝑠</m:t>
                          </m:r>
                          <m:r>
                            <a:rPr lang="en-ID" i="1">
                              <a:latin typeface="Cambria Math" panose="02040503050406030204" pitchFamily="18" charset="0"/>
                            </a:rPr>
                            <m:t>+</m:t>
                          </m:r>
                          <m:r>
                            <a:rPr lang="en-ID" i="1">
                              <a:latin typeface="Cambria Math" panose="02040503050406030204" pitchFamily="18" charset="0"/>
                            </a:rPr>
                            <m:t>𝐹𝑎𝑙𝑠𝑒</m:t>
                          </m:r>
                          <m:r>
                            <a:rPr lang="en-ID" i="1">
                              <a:latin typeface="Cambria Math" panose="02040503050406030204" pitchFamily="18" charset="0"/>
                            </a:rPr>
                            <m:t> </m:t>
                          </m:r>
                          <m:r>
                            <a:rPr lang="en-ID" i="1">
                              <a:latin typeface="Cambria Math" panose="02040503050406030204" pitchFamily="18" charset="0"/>
                            </a:rPr>
                            <m:t>𝑃𝑜𝑠𝑖𝑡𝑖𝑣𝑒𝑠</m:t>
                          </m:r>
                        </m:den>
                      </m:f>
                    </m:oMath>
                  </m:oMathPara>
                </a14:m>
                <a:endParaRPr lang="en-ID" dirty="0"/>
              </a:p>
              <a:p>
                <a:endParaRPr lang="en-ID" dirty="0"/>
              </a:p>
            </p:txBody>
          </p:sp>
        </mc:Choice>
        <mc:Fallback xmlns="">
          <p:sp>
            <p:nvSpPr>
              <p:cNvPr id="6" name="TextBox 5">
                <a:extLst>
                  <a:ext uri="{FF2B5EF4-FFF2-40B4-BE49-F238E27FC236}">
                    <a16:creationId xmlns:a16="http://schemas.microsoft.com/office/drawing/2014/main" id="{54A29259-8901-ECBE-2B4E-6BFB57D9CC26}"/>
                  </a:ext>
                </a:extLst>
              </p:cNvPr>
              <p:cNvSpPr txBox="1">
                <a:spLocks noRot="1" noChangeAspect="1" noMove="1" noResize="1" noEditPoints="1" noAdjustHandles="1" noChangeArrowheads="1" noChangeShapeType="1" noTextEdit="1"/>
              </p:cNvSpPr>
              <p:nvPr/>
            </p:nvSpPr>
            <p:spPr>
              <a:xfrm>
                <a:off x="3141302" y="3340537"/>
                <a:ext cx="4712380" cy="800155"/>
              </a:xfrm>
              <a:prstGeom prst="rect">
                <a:avLst/>
              </a:prstGeom>
              <a:blipFill>
                <a:blip r:embed="rId4"/>
                <a:stretch>
                  <a:fillRect/>
                </a:stretch>
              </a:blipFill>
              <a:ln w="28575"/>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B75F853-E97E-5D22-7143-FCB062E3E22B}"/>
                  </a:ext>
                </a:extLst>
              </p:cNvPr>
              <p:cNvSpPr txBox="1"/>
              <p:nvPr/>
            </p:nvSpPr>
            <p:spPr>
              <a:xfrm>
                <a:off x="3154465" y="4501488"/>
                <a:ext cx="4619534" cy="844142"/>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𝑅𝑒𝑐𝑎𝑙𝑙</m:t>
                      </m:r>
                      <m:r>
                        <a:rPr lang="en-ID" i="1" smtClean="0">
                          <a:latin typeface="Cambria Math" panose="02040503050406030204" pitchFamily="18" charset="0"/>
                        </a:rPr>
                        <m:t>=</m:t>
                      </m:r>
                      <m:f>
                        <m:fPr>
                          <m:ctrlPr>
                            <a:rPr lang="en-ID" i="1">
                              <a:latin typeface="Cambria Math" panose="02040503050406030204" pitchFamily="18" charset="0"/>
                            </a:rPr>
                          </m:ctrlPr>
                        </m:fPr>
                        <m:num>
                          <m:r>
                            <a:rPr lang="en-ID" i="1">
                              <a:latin typeface="Cambria Math" panose="02040503050406030204" pitchFamily="18" charset="0"/>
                            </a:rPr>
                            <m:t>𝑇𝑟𝑢𝑒</m:t>
                          </m:r>
                          <m:r>
                            <a:rPr lang="en-ID" i="1">
                              <a:latin typeface="Cambria Math" panose="02040503050406030204" pitchFamily="18" charset="0"/>
                            </a:rPr>
                            <m:t> </m:t>
                          </m:r>
                          <m:r>
                            <a:rPr lang="en-ID" i="1">
                              <a:latin typeface="Cambria Math" panose="02040503050406030204" pitchFamily="18" charset="0"/>
                            </a:rPr>
                            <m:t>𝑃𝑜𝑠𝑖𝑡𝑖𝑣𝑒𝑠</m:t>
                          </m:r>
                        </m:num>
                        <m:den>
                          <m:r>
                            <a:rPr lang="en-ID" i="1">
                              <a:latin typeface="Cambria Math" panose="02040503050406030204" pitchFamily="18" charset="0"/>
                            </a:rPr>
                            <m:t>𝑇𝑟𝑢𝑒</m:t>
                          </m:r>
                          <m:r>
                            <a:rPr lang="en-ID" i="1">
                              <a:latin typeface="Cambria Math" panose="02040503050406030204" pitchFamily="18" charset="0"/>
                            </a:rPr>
                            <m:t> </m:t>
                          </m:r>
                          <m:r>
                            <a:rPr lang="en-ID" i="1">
                              <a:latin typeface="Cambria Math" panose="02040503050406030204" pitchFamily="18" charset="0"/>
                            </a:rPr>
                            <m:t>𝑃𝑜𝑠𝑖𝑡𝑖𝑣𝑒𝑠</m:t>
                          </m:r>
                          <m:r>
                            <a:rPr lang="en-ID" i="1">
                              <a:latin typeface="Cambria Math" panose="02040503050406030204" pitchFamily="18" charset="0"/>
                            </a:rPr>
                            <m:t>+</m:t>
                          </m:r>
                          <m:r>
                            <a:rPr lang="en-ID" i="1">
                              <a:latin typeface="Cambria Math" panose="02040503050406030204" pitchFamily="18" charset="0"/>
                            </a:rPr>
                            <m:t>𝐹𝑎𝑙𝑠𝑒</m:t>
                          </m:r>
                          <m:r>
                            <a:rPr lang="en-US" b="0" i="1" smtClean="0">
                              <a:latin typeface="Cambria Math" panose="02040503050406030204" pitchFamily="18" charset="0"/>
                            </a:rPr>
                            <m:t> </m:t>
                          </m:r>
                          <m:r>
                            <a:rPr lang="en-US" b="0" i="1" smtClean="0">
                              <a:latin typeface="Cambria Math" panose="02040503050406030204" pitchFamily="18" charset="0"/>
                            </a:rPr>
                            <m:t>𝑁𝑒𝑔𝑎𝑡𝑖𝑣𝑒𝑠</m:t>
                          </m:r>
                        </m:den>
                      </m:f>
                    </m:oMath>
                  </m:oMathPara>
                </a14:m>
                <a:endParaRPr lang="en-ID" dirty="0"/>
              </a:p>
              <a:p>
                <a:endParaRPr lang="en-ID" dirty="0"/>
              </a:p>
            </p:txBody>
          </p:sp>
        </mc:Choice>
        <mc:Fallback xmlns="">
          <p:sp>
            <p:nvSpPr>
              <p:cNvPr id="11" name="TextBox 10">
                <a:extLst>
                  <a:ext uri="{FF2B5EF4-FFF2-40B4-BE49-F238E27FC236}">
                    <a16:creationId xmlns:a16="http://schemas.microsoft.com/office/drawing/2014/main" id="{5B75F853-E97E-5D22-7143-FCB062E3E22B}"/>
                  </a:ext>
                </a:extLst>
              </p:cNvPr>
              <p:cNvSpPr txBox="1">
                <a:spLocks noRot="1" noChangeAspect="1" noMove="1" noResize="1" noEditPoints="1" noAdjustHandles="1" noChangeArrowheads="1" noChangeShapeType="1" noTextEdit="1"/>
              </p:cNvSpPr>
              <p:nvPr/>
            </p:nvSpPr>
            <p:spPr>
              <a:xfrm>
                <a:off x="3154465" y="4501488"/>
                <a:ext cx="4619534" cy="844142"/>
              </a:xfrm>
              <a:prstGeom prst="rect">
                <a:avLst/>
              </a:prstGeom>
              <a:blipFill>
                <a:blip r:embed="rId5"/>
                <a:stretch>
                  <a:fillRect/>
                </a:stretch>
              </a:blipFill>
              <a:ln w="28575"/>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20E6DF5-8E39-E121-869B-73E9B067EE4B}"/>
                  </a:ext>
                </a:extLst>
              </p:cNvPr>
              <p:cNvSpPr txBox="1"/>
              <p:nvPr/>
            </p:nvSpPr>
            <p:spPr>
              <a:xfrm>
                <a:off x="3185434" y="5706426"/>
                <a:ext cx="3792833" cy="807529"/>
              </a:xfrm>
              <a:prstGeom prst="rect">
                <a:avLst/>
              </a:prstGeom>
              <a:ln w="28575"/>
            </p:spPr>
            <p:style>
              <a:lnRef idx="2">
                <a:schemeClr val="dk1"/>
              </a:lnRef>
              <a:fillRef idx="1">
                <a:schemeClr val="lt1"/>
              </a:fillRef>
              <a:effectRef idx="0">
                <a:schemeClr val="dk1"/>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1</m:t>
                      </m:r>
                      <m:r>
                        <a:rPr lang="en-US" b="0" i="1" smtClean="0">
                          <a:latin typeface="Cambria Math" panose="02040503050406030204" pitchFamily="18" charset="0"/>
                        </a:rPr>
                        <m:t>𝑠𝑐𝑜𝑟𝑒</m:t>
                      </m:r>
                      <m:r>
                        <a:rPr lang="en-ID" i="1">
                          <a:latin typeface="Cambria Math" panose="02040503050406030204" pitchFamily="18" charset="0"/>
                        </a:rPr>
                        <m:t>=</m:t>
                      </m:r>
                      <m:r>
                        <a:rPr lang="en-US" b="0" i="1" smtClean="0">
                          <a:latin typeface="Cambria Math" panose="02040503050406030204" pitchFamily="18" charset="0"/>
                        </a:rPr>
                        <m:t>2</m:t>
                      </m:r>
                      <m:r>
                        <a:rPr lang="en-ID" i="1">
                          <a:latin typeface="Cambria Math" panose="02040503050406030204" pitchFamily="18" charset="0"/>
                        </a:rPr>
                        <m:t>×</m:t>
                      </m:r>
                      <m:f>
                        <m:fPr>
                          <m:ctrlPr>
                            <a:rPr lang="en-ID" i="1">
                              <a:latin typeface="Cambria Math" panose="02040503050406030204" pitchFamily="18" charset="0"/>
                            </a:rPr>
                          </m:ctrlPr>
                        </m:fPr>
                        <m:num>
                          <m:r>
                            <a:rPr lang="en-US" b="0" i="1" smtClean="0">
                              <a:latin typeface="Cambria Math" panose="02040503050406030204" pitchFamily="18" charset="0"/>
                            </a:rPr>
                            <m:t>𝑃𝑟𝑒𝑐𝑖𝑠𝑖𝑜𝑛</m:t>
                          </m:r>
                          <m:r>
                            <a:rPr lang="en-US" b="0" i="1" smtClean="0">
                              <a:latin typeface="Cambria Math" panose="02040503050406030204" pitchFamily="18" charset="0"/>
                            </a:rPr>
                            <m:t> ×</m:t>
                          </m:r>
                          <m:r>
                            <a:rPr lang="en-US" b="0" i="1" smtClean="0">
                              <a:latin typeface="Cambria Math" panose="02040503050406030204" pitchFamily="18" charset="0"/>
                            </a:rPr>
                            <m:t>𝑅𝑒𝑐𝑎𝑙𝑙</m:t>
                          </m:r>
                        </m:num>
                        <m:den>
                          <m:r>
                            <a:rPr lang="en-US" b="0" i="1" smtClean="0">
                              <a:latin typeface="Cambria Math" panose="02040503050406030204" pitchFamily="18" charset="0"/>
                            </a:rPr>
                            <m:t>𝑃𝑟𝑒𝑐𝑖𝑠𝑖𝑜𝑛</m:t>
                          </m:r>
                          <m:r>
                            <a:rPr lang="en-US" b="0" i="1" smtClean="0">
                              <a:latin typeface="Cambria Math" panose="02040503050406030204" pitchFamily="18" charset="0"/>
                            </a:rPr>
                            <m:t> +</m:t>
                          </m:r>
                          <m:r>
                            <a:rPr lang="en-US" b="0" i="1" smtClean="0">
                              <a:latin typeface="Cambria Math" panose="02040503050406030204" pitchFamily="18" charset="0"/>
                            </a:rPr>
                            <m:t>𝑅𝑒𝑐𝑎𝑙𝑙</m:t>
                          </m:r>
                        </m:den>
                      </m:f>
                    </m:oMath>
                  </m:oMathPara>
                </a14:m>
                <a:endParaRPr lang="en-ID" dirty="0"/>
              </a:p>
              <a:p>
                <a:endParaRPr lang="en-ID" dirty="0"/>
              </a:p>
            </p:txBody>
          </p:sp>
        </mc:Choice>
        <mc:Fallback xmlns="">
          <p:sp>
            <p:nvSpPr>
              <p:cNvPr id="12" name="TextBox 11">
                <a:extLst>
                  <a:ext uri="{FF2B5EF4-FFF2-40B4-BE49-F238E27FC236}">
                    <a16:creationId xmlns:a16="http://schemas.microsoft.com/office/drawing/2014/main" id="{B20E6DF5-8E39-E121-869B-73E9B067EE4B}"/>
                  </a:ext>
                </a:extLst>
              </p:cNvPr>
              <p:cNvSpPr txBox="1">
                <a:spLocks noRot="1" noChangeAspect="1" noMove="1" noResize="1" noEditPoints="1" noAdjustHandles="1" noChangeArrowheads="1" noChangeShapeType="1" noTextEdit="1"/>
              </p:cNvSpPr>
              <p:nvPr/>
            </p:nvSpPr>
            <p:spPr>
              <a:xfrm>
                <a:off x="3185434" y="5706426"/>
                <a:ext cx="3792833" cy="807529"/>
              </a:xfrm>
              <a:prstGeom prst="rect">
                <a:avLst/>
              </a:prstGeom>
              <a:blipFill>
                <a:blip r:embed="rId6"/>
                <a:stretch>
                  <a:fillRect/>
                </a:stretch>
              </a:blipFill>
              <a:ln w="28575"/>
            </p:spPr>
            <p:txBody>
              <a:bodyPr/>
              <a:lstStyle/>
              <a:p>
                <a:r>
                  <a:rPr lang="en-ID">
                    <a:noFill/>
                  </a:rPr>
                  <a:t> </a:t>
                </a:r>
              </a:p>
            </p:txBody>
          </p:sp>
        </mc:Fallback>
      </mc:AlternateContent>
      <p:sp>
        <p:nvSpPr>
          <p:cNvPr id="14" name="TextBox 13">
            <a:extLst>
              <a:ext uri="{FF2B5EF4-FFF2-40B4-BE49-F238E27FC236}">
                <a16:creationId xmlns:a16="http://schemas.microsoft.com/office/drawing/2014/main" id="{8F28D6D9-7B1F-6AE4-BF0A-991D2D5314B6}"/>
              </a:ext>
            </a:extLst>
          </p:cNvPr>
          <p:cNvSpPr txBox="1"/>
          <p:nvPr/>
        </p:nvSpPr>
        <p:spPr>
          <a:xfrm>
            <a:off x="1623340" y="2314983"/>
            <a:ext cx="1729047" cy="369332"/>
          </a:xfrm>
          <a:prstGeom prst="rect">
            <a:avLst/>
          </a:prstGeom>
          <a:noFill/>
        </p:spPr>
        <p:txBody>
          <a:bodyPr wrap="square" rtlCol="0">
            <a:spAutoFit/>
          </a:bodyPr>
          <a:lstStyle/>
          <a:p>
            <a:r>
              <a:rPr lang="en-US" b="1" dirty="0"/>
              <a:t>Equation 1</a:t>
            </a:r>
            <a:endParaRPr lang="en-ID" b="1" dirty="0"/>
          </a:p>
        </p:txBody>
      </p:sp>
      <p:sp>
        <p:nvSpPr>
          <p:cNvPr id="16" name="TextBox 15">
            <a:extLst>
              <a:ext uri="{FF2B5EF4-FFF2-40B4-BE49-F238E27FC236}">
                <a16:creationId xmlns:a16="http://schemas.microsoft.com/office/drawing/2014/main" id="{C31AFDCE-042D-65FB-EA31-B8AE35B7DEBC}"/>
              </a:ext>
            </a:extLst>
          </p:cNvPr>
          <p:cNvSpPr txBox="1"/>
          <p:nvPr/>
        </p:nvSpPr>
        <p:spPr>
          <a:xfrm>
            <a:off x="1590085" y="3555948"/>
            <a:ext cx="1729047" cy="369332"/>
          </a:xfrm>
          <a:prstGeom prst="rect">
            <a:avLst/>
          </a:prstGeom>
          <a:noFill/>
        </p:spPr>
        <p:txBody>
          <a:bodyPr wrap="square" rtlCol="0">
            <a:spAutoFit/>
          </a:bodyPr>
          <a:lstStyle/>
          <a:p>
            <a:r>
              <a:rPr lang="en-US" b="1" dirty="0"/>
              <a:t>Equation 2</a:t>
            </a:r>
            <a:endParaRPr lang="en-ID" b="1" dirty="0"/>
          </a:p>
        </p:txBody>
      </p:sp>
      <p:sp>
        <p:nvSpPr>
          <p:cNvPr id="18" name="TextBox 17">
            <a:extLst>
              <a:ext uri="{FF2B5EF4-FFF2-40B4-BE49-F238E27FC236}">
                <a16:creationId xmlns:a16="http://schemas.microsoft.com/office/drawing/2014/main" id="{2971B7F6-0AED-0D3D-906B-4451237ACDA6}"/>
              </a:ext>
            </a:extLst>
          </p:cNvPr>
          <p:cNvSpPr txBox="1"/>
          <p:nvPr/>
        </p:nvSpPr>
        <p:spPr>
          <a:xfrm>
            <a:off x="1623340" y="4723907"/>
            <a:ext cx="1729047" cy="369332"/>
          </a:xfrm>
          <a:prstGeom prst="rect">
            <a:avLst/>
          </a:prstGeom>
          <a:noFill/>
        </p:spPr>
        <p:txBody>
          <a:bodyPr wrap="square" rtlCol="0">
            <a:spAutoFit/>
          </a:bodyPr>
          <a:lstStyle/>
          <a:p>
            <a:r>
              <a:rPr lang="en-US" b="1" dirty="0"/>
              <a:t>Equation 3</a:t>
            </a:r>
            <a:endParaRPr lang="en-ID" b="1" dirty="0"/>
          </a:p>
        </p:txBody>
      </p:sp>
      <p:sp>
        <p:nvSpPr>
          <p:cNvPr id="20" name="TextBox 19">
            <a:extLst>
              <a:ext uri="{FF2B5EF4-FFF2-40B4-BE49-F238E27FC236}">
                <a16:creationId xmlns:a16="http://schemas.microsoft.com/office/drawing/2014/main" id="{207FFE22-6802-A85E-1362-41EF4030E7E0}"/>
              </a:ext>
            </a:extLst>
          </p:cNvPr>
          <p:cNvSpPr txBox="1"/>
          <p:nvPr/>
        </p:nvSpPr>
        <p:spPr>
          <a:xfrm>
            <a:off x="1590083" y="5934127"/>
            <a:ext cx="1729047" cy="369332"/>
          </a:xfrm>
          <a:prstGeom prst="rect">
            <a:avLst/>
          </a:prstGeom>
          <a:noFill/>
        </p:spPr>
        <p:txBody>
          <a:bodyPr wrap="square" rtlCol="0">
            <a:spAutoFit/>
          </a:bodyPr>
          <a:lstStyle/>
          <a:p>
            <a:r>
              <a:rPr lang="en-US" b="1" dirty="0"/>
              <a:t>Equation 4</a:t>
            </a:r>
            <a:endParaRPr lang="en-ID" b="1" dirty="0"/>
          </a:p>
        </p:txBody>
      </p:sp>
    </p:spTree>
    <p:extLst>
      <p:ext uri="{BB962C8B-B14F-4D97-AF65-F5344CB8AC3E}">
        <p14:creationId xmlns:p14="http://schemas.microsoft.com/office/powerpoint/2010/main" val="3620821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5" y="935901"/>
            <a:ext cx="9884229" cy="5847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noProof="0" dirty="0">
                <a:solidFill>
                  <a:srgbClr val="1D3784"/>
                </a:solidFill>
                <a:latin typeface="Century Gothic" panose="020B0502020202020204" pitchFamily="34" charset="0"/>
                <a:cs typeface="Arial" panose="020B0604020202020204" pitchFamily="34" charset="0"/>
              </a:rPr>
              <a:t>SPECIAL TECHNIQUES AND PROCEDURE</a:t>
            </a:r>
            <a:endParaRPr kumimoji="0" lang="en-PH" sz="3200" b="1" i="0" u="none" strike="noStrike" kern="1200" cap="none" spc="0" normalizeH="0" baseline="0" noProof="0" dirty="0">
              <a:ln>
                <a:noFill/>
              </a:ln>
              <a:solidFill>
                <a:srgbClr val="1D3784"/>
              </a:solidFill>
              <a:effectLst/>
              <a:uLnTx/>
              <a:uFillTx/>
              <a:latin typeface="Century Gothic" panose="020B0502020202020204" pitchFamily="34" charset="0"/>
              <a:ea typeface="+mn-ea"/>
              <a:cs typeface="Arial" panose="020B0604020202020204" pitchFamily="34" charset="0"/>
            </a:endParaRPr>
          </a:p>
        </p:txBody>
      </p:sp>
      <p:sp>
        <p:nvSpPr>
          <p:cNvPr id="5" name="Google Shape;104;p2"/>
          <p:cNvSpPr txBox="1"/>
          <p:nvPr/>
        </p:nvSpPr>
        <p:spPr>
          <a:xfrm>
            <a:off x="618835" y="0"/>
            <a:ext cx="94871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9" name="TextBox 8">
            <a:extLst>
              <a:ext uri="{FF2B5EF4-FFF2-40B4-BE49-F238E27FC236}">
                <a16:creationId xmlns:a16="http://schemas.microsoft.com/office/drawing/2014/main" id="{09321F20-746B-4FCC-921E-957EE3104C65}"/>
              </a:ext>
            </a:extLst>
          </p:cNvPr>
          <p:cNvSpPr txBox="1"/>
          <p:nvPr/>
        </p:nvSpPr>
        <p:spPr>
          <a:xfrm>
            <a:off x="1175658" y="1962595"/>
            <a:ext cx="10377714" cy="4401205"/>
          </a:xfrm>
          <a:prstGeom prst="rect">
            <a:avLst/>
          </a:prstGeom>
          <a:noFill/>
        </p:spPr>
        <p:txBody>
          <a:bodyPr wrap="square" rtlCol="0">
            <a:spAutoFit/>
          </a:bodyPr>
          <a:lstStyle/>
          <a:p>
            <a:pPr algn="just"/>
            <a:r>
              <a:rPr lang="en-US" sz="2800" dirty="0"/>
              <a:t>	The study used rule-based signal analysis to detect and classify AC and DC voltage anomalies in a hybrid power system. Voltage readings were evaluated using predefined rules based on voltage magnitude, rate of change, and persistence over time to identify dropout, spike, drift, or normal conditions. A low-voltage pre-testing setup with a nominal voltage of 6.0 V was first used to safely validate and refine the detection logic before applying the calibrated rules to actual AC and DC sources. The system followed a detection sequence of dropout, spike, drift, then normal, and the results were recorded, displayed, and used for alert generation when needed.</a:t>
            </a:r>
            <a:endParaRPr lang="en-PH" sz="2800" dirty="0"/>
          </a:p>
        </p:txBody>
      </p:sp>
    </p:spTree>
    <p:extLst>
      <p:ext uri="{BB962C8B-B14F-4D97-AF65-F5344CB8AC3E}">
        <p14:creationId xmlns:p14="http://schemas.microsoft.com/office/powerpoint/2010/main" val="58588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741697"/>
            <a:ext cx="9884229" cy="5847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noProof="0" dirty="0">
                <a:solidFill>
                  <a:srgbClr val="1D3784"/>
                </a:solidFill>
                <a:latin typeface="Century Gothic" panose="020B0502020202020204" pitchFamily="34" charset="0"/>
                <a:cs typeface="Arial" panose="020B0604020202020204" pitchFamily="34" charset="0"/>
              </a:rPr>
              <a:t>SPECIAL TECHNIQUES AND PROCEDURE</a:t>
            </a:r>
            <a:endParaRPr kumimoji="0" lang="en-PH" sz="3200" b="1" i="0" u="none" strike="noStrike" kern="1200" cap="none" spc="0" normalizeH="0" baseline="0" noProof="0" dirty="0">
              <a:ln>
                <a:noFill/>
              </a:ln>
              <a:solidFill>
                <a:srgbClr val="1D3784"/>
              </a:solidFill>
              <a:effectLst/>
              <a:uLnTx/>
              <a:uFillTx/>
              <a:latin typeface="Century Gothic" panose="020B0502020202020204" pitchFamily="34" charset="0"/>
              <a:ea typeface="+mn-ea"/>
              <a:cs typeface="Arial" panose="020B0604020202020204" pitchFamily="34" charset="0"/>
            </a:endParaRPr>
          </a:p>
        </p:txBody>
      </p:sp>
      <p:sp>
        <p:nvSpPr>
          <p:cNvPr id="5" name="Google Shape;104;p2"/>
          <p:cNvSpPr txBox="1"/>
          <p:nvPr/>
        </p:nvSpPr>
        <p:spPr>
          <a:xfrm>
            <a:off x="618835" y="0"/>
            <a:ext cx="94871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9" name="TextBox 8">
            <a:extLst>
              <a:ext uri="{FF2B5EF4-FFF2-40B4-BE49-F238E27FC236}">
                <a16:creationId xmlns:a16="http://schemas.microsoft.com/office/drawing/2014/main" id="{8A87D580-C68E-2127-C015-E4AFAB89E189}"/>
              </a:ext>
            </a:extLst>
          </p:cNvPr>
          <p:cNvSpPr txBox="1"/>
          <p:nvPr/>
        </p:nvSpPr>
        <p:spPr>
          <a:xfrm>
            <a:off x="4249074" y="6143441"/>
            <a:ext cx="5146431"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Figure 9. Interface of the kiosk</a:t>
            </a:r>
          </a:p>
          <a:p>
            <a:endParaRPr lang="en-US"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A6F0DAD7-7AA3-5648-8F2B-2892A6B454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0652" y="1471547"/>
            <a:ext cx="3669597" cy="2150155"/>
          </a:xfrm>
          <a:prstGeom prst="rect">
            <a:avLst/>
          </a:prstGeom>
        </p:spPr>
      </p:pic>
      <p:pic>
        <p:nvPicPr>
          <p:cNvPr id="7" name="Picture 6">
            <a:extLst>
              <a:ext uri="{FF2B5EF4-FFF2-40B4-BE49-F238E27FC236}">
                <a16:creationId xmlns:a16="http://schemas.microsoft.com/office/drawing/2014/main" id="{A12F4F13-F903-96A8-17B1-AE7674D6D3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7274" y="3833280"/>
            <a:ext cx="3669600" cy="2150156"/>
          </a:xfrm>
          <a:prstGeom prst="rect">
            <a:avLst/>
          </a:prstGeom>
        </p:spPr>
      </p:pic>
      <p:pic>
        <p:nvPicPr>
          <p:cNvPr id="10" name="Picture 9">
            <a:extLst>
              <a:ext uri="{FF2B5EF4-FFF2-40B4-BE49-F238E27FC236}">
                <a16:creationId xmlns:a16="http://schemas.microsoft.com/office/drawing/2014/main" id="{0849E5D0-3700-055B-AE8F-EC58B1B16A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16797" y="3833089"/>
            <a:ext cx="3667354" cy="2148840"/>
          </a:xfrm>
          <a:prstGeom prst="rect">
            <a:avLst/>
          </a:prstGeom>
        </p:spPr>
      </p:pic>
      <p:pic>
        <p:nvPicPr>
          <p:cNvPr id="12" name="Picture 11">
            <a:extLst>
              <a:ext uri="{FF2B5EF4-FFF2-40B4-BE49-F238E27FC236}">
                <a16:creationId xmlns:a16="http://schemas.microsoft.com/office/drawing/2014/main" id="{78C5C311-9F91-3486-4B59-DA3A435EE8A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33422" y="1459208"/>
            <a:ext cx="3667353" cy="2148840"/>
          </a:xfrm>
          <a:prstGeom prst="rect">
            <a:avLst/>
          </a:prstGeom>
        </p:spPr>
      </p:pic>
    </p:spTree>
    <p:extLst>
      <p:ext uri="{BB962C8B-B14F-4D97-AF65-F5344CB8AC3E}">
        <p14:creationId xmlns:p14="http://schemas.microsoft.com/office/powerpoint/2010/main" val="3808909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741697"/>
            <a:ext cx="9884229" cy="58477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noProof="0" dirty="0">
                <a:solidFill>
                  <a:srgbClr val="1D3784"/>
                </a:solidFill>
                <a:latin typeface="Century Gothic" panose="020B0502020202020204" pitchFamily="34" charset="0"/>
                <a:cs typeface="Arial" panose="020B0604020202020204" pitchFamily="34" charset="0"/>
              </a:rPr>
              <a:t>SPECIAL TECHNIQUES AND PROCEDURE</a:t>
            </a:r>
            <a:endParaRPr kumimoji="0" lang="en-PH" sz="3200" b="1" i="0" u="none" strike="noStrike" kern="1200" cap="none" spc="0" normalizeH="0" baseline="0" noProof="0" dirty="0">
              <a:ln>
                <a:noFill/>
              </a:ln>
              <a:solidFill>
                <a:srgbClr val="1D3784"/>
              </a:solidFill>
              <a:effectLst/>
              <a:uLnTx/>
              <a:uFillTx/>
              <a:latin typeface="Century Gothic" panose="020B0502020202020204" pitchFamily="34" charset="0"/>
              <a:ea typeface="+mn-ea"/>
              <a:cs typeface="Arial" panose="020B0604020202020204" pitchFamily="34" charset="0"/>
            </a:endParaRPr>
          </a:p>
        </p:txBody>
      </p:sp>
      <p:sp>
        <p:nvSpPr>
          <p:cNvPr id="5" name="Google Shape;104;p2"/>
          <p:cNvSpPr txBox="1"/>
          <p:nvPr/>
        </p:nvSpPr>
        <p:spPr>
          <a:xfrm>
            <a:off x="618835" y="0"/>
            <a:ext cx="94871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9" name="TextBox 8">
            <a:extLst>
              <a:ext uri="{FF2B5EF4-FFF2-40B4-BE49-F238E27FC236}">
                <a16:creationId xmlns:a16="http://schemas.microsoft.com/office/drawing/2014/main" id="{8A87D580-C68E-2127-C015-E4AFAB89E189}"/>
              </a:ext>
            </a:extLst>
          </p:cNvPr>
          <p:cNvSpPr txBox="1"/>
          <p:nvPr/>
        </p:nvSpPr>
        <p:spPr>
          <a:xfrm>
            <a:off x="3522784" y="5942766"/>
            <a:ext cx="5146431"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Figure 10. User Interface Concept Architecture Design</a:t>
            </a:r>
          </a:p>
        </p:txBody>
      </p:sp>
      <p:pic>
        <p:nvPicPr>
          <p:cNvPr id="6" name="Picture 5">
            <a:extLst>
              <a:ext uri="{FF2B5EF4-FFF2-40B4-BE49-F238E27FC236}">
                <a16:creationId xmlns:a16="http://schemas.microsoft.com/office/drawing/2014/main" id="{7BCA0006-E56B-B7A5-B238-FE4E601117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942" y="1421672"/>
            <a:ext cx="3110511" cy="1822565"/>
          </a:xfrm>
          <a:prstGeom prst="rect">
            <a:avLst/>
          </a:prstGeom>
        </p:spPr>
      </p:pic>
      <p:pic>
        <p:nvPicPr>
          <p:cNvPr id="8" name="Picture 7">
            <a:extLst>
              <a:ext uri="{FF2B5EF4-FFF2-40B4-BE49-F238E27FC236}">
                <a16:creationId xmlns:a16="http://schemas.microsoft.com/office/drawing/2014/main" id="{C3D86A4C-9E0C-E553-D0FD-E5084AA7FE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0283" y="1421672"/>
            <a:ext cx="3110511" cy="1822565"/>
          </a:xfrm>
          <a:prstGeom prst="rect">
            <a:avLst/>
          </a:prstGeom>
        </p:spPr>
      </p:pic>
      <p:pic>
        <p:nvPicPr>
          <p:cNvPr id="11" name="Picture 10">
            <a:extLst>
              <a:ext uri="{FF2B5EF4-FFF2-40B4-BE49-F238E27FC236}">
                <a16:creationId xmlns:a16="http://schemas.microsoft.com/office/drawing/2014/main" id="{2B876328-63B7-33D0-D523-F145A2167A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61549" y="1433089"/>
            <a:ext cx="3105546" cy="1819656"/>
          </a:xfrm>
          <a:prstGeom prst="rect">
            <a:avLst/>
          </a:prstGeom>
        </p:spPr>
      </p:pic>
      <p:pic>
        <p:nvPicPr>
          <p:cNvPr id="13" name="Picture 12">
            <a:extLst>
              <a:ext uri="{FF2B5EF4-FFF2-40B4-BE49-F238E27FC236}">
                <a16:creationId xmlns:a16="http://schemas.microsoft.com/office/drawing/2014/main" id="{6D807257-9339-B807-9C95-D87A5D6BDB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4907" y="3613764"/>
            <a:ext cx="3105546" cy="1819656"/>
          </a:xfrm>
          <a:prstGeom prst="rect">
            <a:avLst/>
          </a:prstGeom>
        </p:spPr>
      </p:pic>
      <p:pic>
        <p:nvPicPr>
          <p:cNvPr id="15" name="Picture 14">
            <a:extLst>
              <a:ext uri="{FF2B5EF4-FFF2-40B4-BE49-F238E27FC236}">
                <a16:creationId xmlns:a16="http://schemas.microsoft.com/office/drawing/2014/main" id="{FADF2CEF-625E-86D9-C834-D3BEF007468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05248" y="3613764"/>
            <a:ext cx="3105546" cy="1819656"/>
          </a:xfrm>
          <a:prstGeom prst="rect">
            <a:avLst/>
          </a:prstGeom>
        </p:spPr>
      </p:pic>
      <p:pic>
        <p:nvPicPr>
          <p:cNvPr id="17" name="Picture 16">
            <a:extLst>
              <a:ext uri="{FF2B5EF4-FFF2-40B4-BE49-F238E27FC236}">
                <a16:creationId xmlns:a16="http://schemas.microsoft.com/office/drawing/2014/main" id="{751B5B33-EDB6-AEE8-78A7-C40199EBE6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61547" y="3613764"/>
            <a:ext cx="3105546" cy="1819656"/>
          </a:xfrm>
          <a:prstGeom prst="rect">
            <a:avLst/>
          </a:prstGeom>
        </p:spPr>
      </p:pic>
    </p:spTree>
    <p:extLst>
      <p:ext uri="{BB962C8B-B14F-4D97-AF65-F5344CB8AC3E}">
        <p14:creationId xmlns:p14="http://schemas.microsoft.com/office/powerpoint/2010/main" val="1496559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i="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17" name="TextBox 16">
            <a:extLst>
              <a:ext uri="{FF2B5EF4-FFF2-40B4-BE49-F238E27FC236}">
                <a16:creationId xmlns:a16="http://schemas.microsoft.com/office/drawing/2014/main" id="{8E08B829-28B3-E2C6-2B50-BD45FCF1DF0C}"/>
              </a:ext>
            </a:extLst>
          </p:cNvPr>
          <p:cNvSpPr txBox="1"/>
          <p:nvPr/>
        </p:nvSpPr>
        <p:spPr>
          <a:xfrm>
            <a:off x="660202" y="1721187"/>
            <a:ext cx="10912962" cy="830997"/>
          </a:xfrm>
          <a:prstGeom prst="rect">
            <a:avLst/>
          </a:prstGeom>
          <a:noFill/>
        </p:spPr>
        <p:txBody>
          <a:bodyPr wrap="square">
            <a:spAutoFit/>
          </a:bodyPr>
          <a:lstStyle/>
          <a:p>
            <a:r>
              <a:rPr lang="en-US" sz="2000" i="1" dirty="0"/>
              <a:t>Table 6. Percentage Distribution of Detected Voltage Conditions  (No Load Phase: April 24–30)</a:t>
            </a:r>
            <a:endParaRPr lang="en-US" sz="1600" i="1" dirty="0"/>
          </a:p>
          <a:p>
            <a:br>
              <a:rPr lang="en-US" sz="1600" i="1" dirty="0"/>
            </a:br>
            <a:endParaRPr lang="en-US" sz="1200" i="1" dirty="0">
              <a:effectLst/>
              <a:latin typeface="Arial MT"/>
              <a:ea typeface="Arial MT"/>
              <a:cs typeface="Arial MT"/>
            </a:endParaRPr>
          </a:p>
        </p:txBody>
      </p:sp>
      <p:sp>
        <p:nvSpPr>
          <p:cNvPr id="5" name="Rectangle 1"/>
          <p:cNvSpPr>
            <a:spLocks noChangeArrowheads="1"/>
          </p:cNvSpPr>
          <p:nvPr/>
        </p:nvSpPr>
        <p:spPr bwMode="auto">
          <a:xfrm>
            <a:off x="4935725" y="2094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i="1"/>
          </a:p>
        </p:txBody>
      </p:sp>
      <p:pic>
        <p:nvPicPr>
          <p:cNvPr id="9" name="Picture 8">
            <a:extLst>
              <a:ext uri="{FF2B5EF4-FFF2-40B4-BE49-F238E27FC236}">
                <a16:creationId xmlns:a16="http://schemas.microsoft.com/office/drawing/2014/main" id="{ED9EA32E-384A-5C95-34ED-CB7FBD684DB1}"/>
              </a:ext>
            </a:extLst>
          </p:cNvPr>
          <p:cNvPicPr>
            <a:picLocks noChangeAspect="1"/>
          </p:cNvPicPr>
          <p:nvPr/>
        </p:nvPicPr>
        <p:blipFill>
          <a:blip r:embed="rId3"/>
          <a:srcRect/>
          <a:stretch>
            <a:fillRect/>
          </a:stretch>
        </p:blipFill>
        <p:spPr>
          <a:xfrm>
            <a:off x="1345607" y="2296275"/>
            <a:ext cx="9500785" cy="3723925"/>
          </a:xfrm>
          <a:prstGeom prst="rect">
            <a:avLst/>
          </a:prstGeom>
        </p:spPr>
      </p:pic>
    </p:spTree>
    <p:extLst>
      <p:ext uri="{BB962C8B-B14F-4D97-AF65-F5344CB8AC3E}">
        <p14:creationId xmlns:p14="http://schemas.microsoft.com/office/powerpoint/2010/main" val="3038482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17" name="TextBox 16">
            <a:extLst>
              <a:ext uri="{FF2B5EF4-FFF2-40B4-BE49-F238E27FC236}">
                <a16:creationId xmlns:a16="http://schemas.microsoft.com/office/drawing/2014/main" id="{8E08B829-28B3-E2C6-2B50-BD45FCF1DF0C}"/>
              </a:ext>
            </a:extLst>
          </p:cNvPr>
          <p:cNvSpPr txBox="1"/>
          <p:nvPr/>
        </p:nvSpPr>
        <p:spPr>
          <a:xfrm>
            <a:off x="2616957" y="6134352"/>
            <a:ext cx="8022442" cy="514180"/>
          </a:xfrm>
          <a:prstGeom prst="rect">
            <a:avLst/>
          </a:prstGeom>
          <a:noFill/>
        </p:spPr>
        <p:txBody>
          <a:bodyPr wrap="square">
            <a:spAutoFit/>
          </a:bodyPr>
          <a:lstStyle/>
          <a:p>
            <a:pPr>
              <a:lnSpc>
                <a:spcPct val="200000"/>
              </a:lnSpc>
            </a:pPr>
            <a:r>
              <a:rPr lang="en-US" sz="1600" dirty="0"/>
              <a:t>Figure 11.  Distribution of Spike, Drift, and Dropout Anomalies During No-Load Operation</a:t>
            </a:r>
            <a:endParaRPr lang="en-US" sz="1050" i="1" dirty="0">
              <a:effectLst/>
              <a:latin typeface="Arial MT"/>
              <a:ea typeface="Arial MT"/>
              <a:cs typeface="Arial MT"/>
            </a:endParaRPr>
          </a:p>
        </p:txBody>
      </p:sp>
      <p:sp>
        <p:nvSpPr>
          <p:cNvPr id="5" name="TextBox 4">
            <a:extLst>
              <a:ext uri="{FF2B5EF4-FFF2-40B4-BE49-F238E27FC236}">
                <a16:creationId xmlns:a16="http://schemas.microsoft.com/office/drawing/2014/main" id="{6EDDB936-8A7D-DF34-DCFC-63084ED7F215}"/>
              </a:ext>
            </a:extLst>
          </p:cNvPr>
          <p:cNvSpPr txBox="1"/>
          <p:nvPr/>
        </p:nvSpPr>
        <p:spPr>
          <a:xfrm>
            <a:off x="618835" y="1258705"/>
            <a:ext cx="8022442" cy="566950"/>
          </a:xfrm>
          <a:prstGeom prst="rect">
            <a:avLst/>
          </a:prstGeom>
          <a:noFill/>
        </p:spPr>
        <p:txBody>
          <a:bodyPr wrap="square">
            <a:spAutoFit/>
          </a:bodyPr>
          <a:lstStyle/>
          <a:p>
            <a:pPr>
              <a:lnSpc>
                <a:spcPct val="200000"/>
              </a:lnSpc>
            </a:pPr>
            <a:r>
              <a:rPr lang="en-US" b="1" dirty="0">
                <a:solidFill>
                  <a:srgbClr val="1D3784"/>
                </a:solidFill>
              </a:rPr>
              <a:t>Graphical Presentation and Comparative Analysis of Detected Voltage Anomalies</a:t>
            </a:r>
            <a:endParaRPr lang="en-US" sz="1050" b="1" i="1" dirty="0">
              <a:solidFill>
                <a:srgbClr val="1D3784"/>
              </a:solidFill>
              <a:effectLst/>
              <a:latin typeface="Arial MT"/>
              <a:ea typeface="Arial MT"/>
              <a:cs typeface="Arial MT"/>
            </a:endParaRPr>
          </a:p>
        </p:txBody>
      </p:sp>
      <p:pic>
        <p:nvPicPr>
          <p:cNvPr id="7" name="Picture 6">
            <a:extLst>
              <a:ext uri="{FF2B5EF4-FFF2-40B4-BE49-F238E27FC236}">
                <a16:creationId xmlns:a16="http://schemas.microsoft.com/office/drawing/2014/main" id="{4DD192C9-F50E-4A58-309D-65796C3FCCAD}"/>
              </a:ext>
            </a:extLst>
          </p:cNvPr>
          <p:cNvPicPr>
            <a:picLocks noChangeAspect="1"/>
          </p:cNvPicPr>
          <p:nvPr/>
        </p:nvPicPr>
        <p:blipFill>
          <a:blip r:embed="rId3"/>
          <a:stretch>
            <a:fillRect/>
          </a:stretch>
        </p:blipFill>
        <p:spPr>
          <a:xfrm>
            <a:off x="1552601" y="1842515"/>
            <a:ext cx="9715361" cy="4507727"/>
          </a:xfrm>
          <a:prstGeom prst="rect">
            <a:avLst/>
          </a:prstGeom>
        </p:spPr>
      </p:pic>
    </p:spTree>
    <p:extLst>
      <p:ext uri="{BB962C8B-B14F-4D97-AF65-F5344CB8AC3E}">
        <p14:creationId xmlns:p14="http://schemas.microsoft.com/office/powerpoint/2010/main" val="2516311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D0E8130-B5F3-D6FD-90EA-7991BD95A1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6082820-671F-2E92-3429-8B0D2323272E}"/>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i="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457C4ACF-B865-B8BD-2BDC-49466F695061}"/>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17" name="TextBox 16">
            <a:extLst>
              <a:ext uri="{FF2B5EF4-FFF2-40B4-BE49-F238E27FC236}">
                <a16:creationId xmlns:a16="http://schemas.microsoft.com/office/drawing/2014/main" id="{DA53BF7E-DD92-F454-086B-0E192A3267D8}"/>
              </a:ext>
            </a:extLst>
          </p:cNvPr>
          <p:cNvSpPr txBox="1"/>
          <p:nvPr/>
        </p:nvSpPr>
        <p:spPr>
          <a:xfrm>
            <a:off x="660202" y="1721187"/>
            <a:ext cx="10912962" cy="400110"/>
          </a:xfrm>
          <a:prstGeom prst="rect">
            <a:avLst/>
          </a:prstGeom>
          <a:noFill/>
        </p:spPr>
        <p:txBody>
          <a:bodyPr wrap="square">
            <a:spAutoFit/>
          </a:bodyPr>
          <a:lstStyle/>
          <a:p>
            <a:r>
              <a:rPr lang="en-US" sz="2000" i="1" dirty="0"/>
              <a:t>Table 7. Percentage Distribution of Detected Voltage Conditions (With Load Phase: May 3–10)</a:t>
            </a:r>
            <a:endParaRPr lang="en-US" sz="1200" i="1" dirty="0">
              <a:effectLst/>
              <a:latin typeface="Arial MT"/>
              <a:ea typeface="Arial MT"/>
              <a:cs typeface="Arial MT"/>
            </a:endParaRPr>
          </a:p>
        </p:txBody>
      </p:sp>
      <p:sp>
        <p:nvSpPr>
          <p:cNvPr id="5" name="Rectangle 1">
            <a:extLst>
              <a:ext uri="{FF2B5EF4-FFF2-40B4-BE49-F238E27FC236}">
                <a16:creationId xmlns:a16="http://schemas.microsoft.com/office/drawing/2014/main" id="{FD8F3B57-9E56-5E03-B922-5D6B5CFA99E1}"/>
              </a:ext>
            </a:extLst>
          </p:cNvPr>
          <p:cNvSpPr>
            <a:spLocks noChangeArrowheads="1"/>
          </p:cNvSpPr>
          <p:nvPr/>
        </p:nvSpPr>
        <p:spPr bwMode="auto">
          <a:xfrm>
            <a:off x="4935725" y="20949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i="1"/>
          </a:p>
        </p:txBody>
      </p:sp>
      <p:pic>
        <p:nvPicPr>
          <p:cNvPr id="8" name="Picture 7">
            <a:extLst>
              <a:ext uri="{FF2B5EF4-FFF2-40B4-BE49-F238E27FC236}">
                <a16:creationId xmlns:a16="http://schemas.microsoft.com/office/drawing/2014/main" id="{5EC8A9FA-BF77-9F1B-7E52-67BB48EAECEB}"/>
              </a:ext>
            </a:extLst>
          </p:cNvPr>
          <p:cNvPicPr>
            <a:picLocks noChangeAspect="1"/>
          </p:cNvPicPr>
          <p:nvPr/>
        </p:nvPicPr>
        <p:blipFill>
          <a:blip r:embed="rId3"/>
          <a:stretch>
            <a:fillRect/>
          </a:stretch>
        </p:blipFill>
        <p:spPr>
          <a:xfrm>
            <a:off x="1444546" y="2269790"/>
            <a:ext cx="9302908" cy="3931027"/>
          </a:xfrm>
          <a:prstGeom prst="rect">
            <a:avLst/>
          </a:prstGeom>
        </p:spPr>
      </p:pic>
    </p:spTree>
    <p:extLst>
      <p:ext uri="{BB962C8B-B14F-4D97-AF65-F5344CB8AC3E}">
        <p14:creationId xmlns:p14="http://schemas.microsoft.com/office/powerpoint/2010/main" val="339354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7EDAE00-0EB0-BE39-DE5F-E9D39644FDF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A4A0FDE-7B18-705C-97EC-09EB3869F0E5}"/>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01D8A7E4-4BF1-59BF-0C38-2A57FB9E5D16}"/>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17" name="TextBox 16">
            <a:extLst>
              <a:ext uri="{FF2B5EF4-FFF2-40B4-BE49-F238E27FC236}">
                <a16:creationId xmlns:a16="http://schemas.microsoft.com/office/drawing/2014/main" id="{6C006603-3EEE-8BEE-9C8F-9A59592DF5E1}"/>
              </a:ext>
            </a:extLst>
          </p:cNvPr>
          <p:cNvSpPr txBox="1"/>
          <p:nvPr/>
        </p:nvSpPr>
        <p:spPr>
          <a:xfrm>
            <a:off x="2733326" y="6101102"/>
            <a:ext cx="8921119" cy="514180"/>
          </a:xfrm>
          <a:prstGeom prst="rect">
            <a:avLst/>
          </a:prstGeom>
          <a:noFill/>
        </p:spPr>
        <p:txBody>
          <a:bodyPr wrap="square">
            <a:spAutoFit/>
          </a:bodyPr>
          <a:lstStyle/>
          <a:p>
            <a:pPr>
              <a:lnSpc>
                <a:spcPct val="200000"/>
              </a:lnSpc>
            </a:pPr>
            <a:r>
              <a:rPr lang="en-US" sz="1600" dirty="0"/>
              <a:t>Figure 12.  Distribution of Spike, Drift, and Dropout Anomalies During With-Load Operation</a:t>
            </a:r>
            <a:endParaRPr lang="en-US" sz="1000" i="1" dirty="0">
              <a:effectLst/>
              <a:latin typeface="Arial MT"/>
              <a:ea typeface="Arial MT"/>
              <a:cs typeface="Arial MT"/>
            </a:endParaRPr>
          </a:p>
        </p:txBody>
      </p:sp>
      <p:pic>
        <p:nvPicPr>
          <p:cNvPr id="5" name="Picture 4">
            <a:extLst>
              <a:ext uri="{FF2B5EF4-FFF2-40B4-BE49-F238E27FC236}">
                <a16:creationId xmlns:a16="http://schemas.microsoft.com/office/drawing/2014/main" id="{44A01876-8FE6-EDE7-258B-BD575EB48EBB}"/>
              </a:ext>
            </a:extLst>
          </p:cNvPr>
          <p:cNvPicPr>
            <a:picLocks noChangeAspect="1"/>
          </p:cNvPicPr>
          <p:nvPr/>
        </p:nvPicPr>
        <p:blipFill>
          <a:blip r:embed="rId3"/>
          <a:stretch>
            <a:fillRect/>
          </a:stretch>
        </p:blipFill>
        <p:spPr>
          <a:xfrm>
            <a:off x="1233966" y="1725483"/>
            <a:ext cx="10237361" cy="4507992"/>
          </a:xfrm>
          <a:prstGeom prst="rect">
            <a:avLst/>
          </a:prstGeom>
        </p:spPr>
      </p:pic>
    </p:spTree>
    <p:extLst>
      <p:ext uri="{BB962C8B-B14F-4D97-AF65-F5344CB8AC3E}">
        <p14:creationId xmlns:p14="http://schemas.microsoft.com/office/powerpoint/2010/main" val="2068379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2" name="TextBox 1">
            <a:extLst>
              <a:ext uri="{FF2B5EF4-FFF2-40B4-BE49-F238E27FC236}">
                <a16:creationId xmlns:a16="http://schemas.microsoft.com/office/drawing/2014/main" id="{EEFD684F-5A83-2FF5-2AD5-81EF8AAA2771}"/>
              </a:ext>
            </a:extLst>
          </p:cNvPr>
          <p:cNvSpPr txBox="1"/>
          <p:nvPr/>
        </p:nvSpPr>
        <p:spPr>
          <a:xfrm>
            <a:off x="618835" y="1325205"/>
            <a:ext cx="11185340" cy="1335687"/>
          </a:xfrm>
          <a:prstGeom prst="rect">
            <a:avLst/>
          </a:prstGeom>
          <a:noFill/>
        </p:spPr>
        <p:txBody>
          <a:bodyPr wrap="square">
            <a:spAutoFit/>
          </a:bodyPr>
          <a:lstStyle/>
          <a:p>
            <a:pPr>
              <a:lnSpc>
                <a:spcPct val="200000"/>
              </a:lnSpc>
            </a:pPr>
            <a:r>
              <a:rPr lang="en-US" sz="1600" b="1" dirty="0">
                <a:solidFill>
                  <a:srgbClr val="1D3784"/>
                </a:solidFill>
                <a:latin typeface="Century Gothic" panose="020B0502020202020204" pitchFamily="34" charset="0"/>
              </a:rPr>
              <a:t>Graphical Presentation and Comparative Analysis of Detected Voltage Anomalies</a:t>
            </a:r>
          </a:p>
          <a:p>
            <a:r>
              <a:rPr lang="en-US" sz="1600" b="1" dirty="0">
                <a:solidFill>
                  <a:srgbClr val="1D3784"/>
                </a:solidFill>
                <a:latin typeface="Century Gothic" panose="020B0502020202020204" pitchFamily="34" charset="0"/>
                <a:ea typeface="Arial MT"/>
                <a:cs typeface="Arial MT"/>
              </a:rPr>
              <a:t>No-Load Phase</a:t>
            </a:r>
          </a:p>
          <a:p>
            <a:r>
              <a:rPr lang="en-US" sz="1600" b="1" dirty="0">
                <a:solidFill>
                  <a:srgbClr val="1D3784"/>
                </a:solidFill>
                <a:latin typeface="Century Gothic" panose="020B0502020202020204" pitchFamily="34" charset="0"/>
                <a:ea typeface="Arial MT"/>
                <a:cs typeface="Arial MT"/>
              </a:rPr>
              <a:t>April 24,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pic>
        <p:nvPicPr>
          <p:cNvPr id="5122" name="Picture 2">
            <a:extLst>
              <a:ext uri="{FF2B5EF4-FFF2-40B4-BE49-F238E27FC236}">
                <a16:creationId xmlns:a16="http://schemas.microsoft.com/office/drawing/2014/main" id="{F3180996-72D5-3DA7-56FE-C0125420F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836546" y="2402422"/>
            <a:ext cx="9099677" cy="402660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5071234-30E1-728F-1449-9CDC62F50B35}"/>
              </a:ext>
            </a:extLst>
          </p:cNvPr>
          <p:cNvSpPr txBox="1"/>
          <p:nvPr/>
        </p:nvSpPr>
        <p:spPr>
          <a:xfrm>
            <a:off x="3780900" y="6429024"/>
            <a:ext cx="6093228" cy="338554"/>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a:t>
            </a:r>
            <a:r>
              <a:rPr lang="en-ID" sz="1600" dirty="0">
                <a:solidFill>
                  <a:srgbClr val="000000"/>
                </a:solidFill>
                <a:cs typeface="Arial" panose="020B0604020202020204" pitchFamily="34" charset="0"/>
              </a:rPr>
              <a:t>13</a:t>
            </a:r>
            <a:r>
              <a:rPr lang="en-ID" sz="1600" b="0" i="0" u="none" strike="noStrike" dirty="0">
                <a:solidFill>
                  <a:srgbClr val="000000"/>
                </a:solidFill>
                <a:effectLst/>
                <a:cs typeface="Arial" panose="020B0604020202020204" pitchFamily="34" charset="0"/>
              </a:rPr>
              <a:t>. Grid and Inverter Voltage Trend (April 24)</a:t>
            </a:r>
            <a:endParaRPr lang="en-ID" sz="1600" dirty="0">
              <a:cs typeface="Arial" panose="020B0604020202020204" pitchFamily="34" charset="0"/>
            </a:endParaRPr>
          </a:p>
        </p:txBody>
      </p:sp>
    </p:spTree>
    <p:extLst>
      <p:ext uri="{BB962C8B-B14F-4D97-AF65-F5344CB8AC3E}">
        <p14:creationId xmlns:p14="http://schemas.microsoft.com/office/powerpoint/2010/main" val="534360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2CEE8A8-7262-B52D-CFE1-D195C01C120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899F6B0-903C-6D83-E50A-C68BBF951EE7}"/>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89F60EAD-08F2-95B5-E640-57A075B4FBEF}"/>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2" name="TextBox 1">
            <a:extLst>
              <a:ext uri="{FF2B5EF4-FFF2-40B4-BE49-F238E27FC236}">
                <a16:creationId xmlns:a16="http://schemas.microsoft.com/office/drawing/2014/main" id="{06D81D40-8737-72C9-948C-BD417AD428C7}"/>
              </a:ext>
            </a:extLst>
          </p:cNvPr>
          <p:cNvSpPr txBox="1"/>
          <p:nvPr/>
        </p:nvSpPr>
        <p:spPr>
          <a:xfrm>
            <a:off x="618835" y="1325205"/>
            <a:ext cx="11185340" cy="1335687"/>
          </a:xfrm>
          <a:prstGeom prst="rect">
            <a:avLst/>
          </a:prstGeom>
          <a:noFill/>
        </p:spPr>
        <p:txBody>
          <a:bodyPr wrap="square">
            <a:spAutoFit/>
          </a:bodyPr>
          <a:lstStyle/>
          <a:p>
            <a:pPr>
              <a:lnSpc>
                <a:spcPct val="200000"/>
              </a:lnSpc>
            </a:pPr>
            <a:r>
              <a:rPr lang="en-US" sz="1600" b="1" dirty="0">
                <a:solidFill>
                  <a:srgbClr val="1D3784"/>
                </a:solidFill>
                <a:latin typeface="Century Gothic" panose="020B0502020202020204" pitchFamily="34" charset="0"/>
              </a:rPr>
              <a:t>Graphical Presentation and Comparative Analysis of Detected Voltage Anomalies</a:t>
            </a:r>
          </a:p>
          <a:p>
            <a:r>
              <a:rPr lang="en-US" sz="1600" b="1" dirty="0">
                <a:solidFill>
                  <a:srgbClr val="1D3784"/>
                </a:solidFill>
                <a:latin typeface="Century Gothic" panose="020B0502020202020204" pitchFamily="34" charset="0"/>
                <a:ea typeface="Arial MT"/>
                <a:cs typeface="Arial MT"/>
              </a:rPr>
              <a:t>No-Load Phase</a:t>
            </a:r>
          </a:p>
          <a:p>
            <a:r>
              <a:rPr lang="en-US" sz="1600" b="1" dirty="0">
                <a:solidFill>
                  <a:srgbClr val="1D3784"/>
                </a:solidFill>
                <a:latin typeface="Century Gothic" panose="020B0502020202020204" pitchFamily="34" charset="0"/>
                <a:ea typeface="Arial MT"/>
                <a:cs typeface="Arial MT"/>
              </a:rPr>
              <a:t>April 24,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9" name="TextBox 8">
            <a:extLst>
              <a:ext uri="{FF2B5EF4-FFF2-40B4-BE49-F238E27FC236}">
                <a16:creationId xmlns:a16="http://schemas.microsoft.com/office/drawing/2014/main" id="{AD92E470-438F-6F93-D25A-54077AEC611F}"/>
              </a:ext>
            </a:extLst>
          </p:cNvPr>
          <p:cNvSpPr txBox="1"/>
          <p:nvPr/>
        </p:nvSpPr>
        <p:spPr>
          <a:xfrm>
            <a:off x="3548149" y="6395774"/>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a:t>
            </a:r>
            <a:r>
              <a:rPr lang="en-ID" sz="1600" dirty="0">
                <a:solidFill>
                  <a:srgbClr val="000000"/>
                </a:solidFill>
                <a:cs typeface="Arial" panose="020B0604020202020204" pitchFamily="34" charset="0"/>
              </a:rPr>
              <a:t>14</a:t>
            </a:r>
            <a:r>
              <a:rPr lang="en-ID" sz="1600" b="0" i="0" u="none" strike="noStrike" dirty="0">
                <a:solidFill>
                  <a:srgbClr val="000000"/>
                </a:solidFill>
                <a:effectLst/>
                <a:cs typeface="Arial" panose="020B0604020202020204" pitchFamily="34" charset="0"/>
              </a:rPr>
              <a:t>. </a:t>
            </a:r>
            <a:r>
              <a:rPr lang="en-ID" sz="1600" dirty="0"/>
              <a:t>Solar PV and Battery Voltage Trend (April 24</a:t>
            </a:r>
            <a:r>
              <a:rPr lang="en-ID" dirty="0"/>
              <a:t>)</a:t>
            </a:r>
            <a:endParaRPr lang="en-ID" sz="1600" dirty="0">
              <a:cs typeface="Arial" panose="020B0604020202020204" pitchFamily="34" charset="0"/>
            </a:endParaRPr>
          </a:p>
        </p:txBody>
      </p:sp>
      <p:pic>
        <p:nvPicPr>
          <p:cNvPr id="6146" name="Picture 2">
            <a:extLst>
              <a:ext uri="{FF2B5EF4-FFF2-40B4-BE49-F238E27FC236}">
                <a16:creationId xmlns:a16="http://schemas.microsoft.com/office/drawing/2014/main" id="{26E07620-E555-1826-3595-88571893EB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819656" y="2402423"/>
            <a:ext cx="8750807" cy="3833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8002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B81BD346-AC12-45B2-AEF6-569254FE192B}"/>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4A5C193C-A9B1-934D-45FD-A67D60B5A7A6}"/>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25,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pic>
        <p:nvPicPr>
          <p:cNvPr id="7170" name="Picture 2">
            <a:extLst>
              <a:ext uri="{FF2B5EF4-FFF2-40B4-BE49-F238E27FC236}">
                <a16:creationId xmlns:a16="http://schemas.microsoft.com/office/drawing/2014/main" id="{9C26B20D-BE62-E3C8-166C-5C910F3792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847273" y="2386490"/>
            <a:ext cx="8655792" cy="379315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2F6EADF-65A9-DEDE-CB72-D638D1B4BB6C}"/>
              </a:ext>
            </a:extLst>
          </p:cNvPr>
          <p:cNvSpPr txBox="1"/>
          <p:nvPr/>
        </p:nvSpPr>
        <p:spPr>
          <a:xfrm>
            <a:off x="3548149" y="6179646"/>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a:t>
            </a:r>
            <a:r>
              <a:rPr lang="en-ID" sz="1600" dirty="0">
                <a:solidFill>
                  <a:srgbClr val="000000"/>
                </a:solidFill>
                <a:cs typeface="Arial" panose="020B0604020202020204" pitchFamily="34" charset="0"/>
              </a:rPr>
              <a:t>15</a:t>
            </a:r>
            <a:r>
              <a:rPr lang="en-ID" sz="1600" b="0" i="0" u="none" strike="noStrike" dirty="0">
                <a:solidFill>
                  <a:srgbClr val="000000"/>
                </a:solidFill>
                <a:effectLst/>
                <a:cs typeface="Arial" panose="020B0604020202020204" pitchFamily="34" charset="0"/>
              </a:rPr>
              <a:t>. </a:t>
            </a:r>
            <a:r>
              <a:rPr lang="en-ID" sz="1600" dirty="0"/>
              <a:t>Grid and Inverter Voltage Trend (April 25</a:t>
            </a:r>
            <a:r>
              <a:rPr lang="en-ID" dirty="0"/>
              <a:t>)</a:t>
            </a:r>
            <a:endParaRPr lang="en-ID" sz="1600" dirty="0">
              <a:cs typeface="Arial" panose="020B0604020202020204" pitchFamily="34" charset="0"/>
            </a:endParaRPr>
          </a:p>
        </p:txBody>
      </p:sp>
    </p:spTree>
    <p:extLst>
      <p:ext uri="{BB962C8B-B14F-4D97-AF65-F5344CB8AC3E}">
        <p14:creationId xmlns:p14="http://schemas.microsoft.com/office/powerpoint/2010/main" val="1777345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666F286-5DE4-E380-AFAE-34E8B2A7547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54DFFAC-A3CB-017B-2D9D-80375DFC9A42}"/>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A299BD15-B897-7CA0-4558-425B7DCACDCA}"/>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0DE78B4E-A908-F87A-3D51-204C45A7D132}"/>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28E1F3F-4E5D-90EB-30E4-85342E9CFA45}"/>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25,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6CC62AAD-FE8B-CEE8-3905-B1B243A9ED9C}"/>
              </a:ext>
            </a:extLst>
          </p:cNvPr>
          <p:cNvSpPr txBox="1"/>
          <p:nvPr/>
        </p:nvSpPr>
        <p:spPr>
          <a:xfrm>
            <a:off x="3548149" y="6246146"/>
            <a:ext cx="6093228" cy="338554"/>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a:t>
            </a:r>
            <a:r>
              <a:rPr lang="en-ID" sz="1600" dirty="0">
                <a:solidFill>
                  <a:srgbClr val="000000"/>
                </a:solidFill>
                <a:cs typeface="Arial" panose="020B0604020202020204" pitchFamily="34" charset="0"/>
              </a:rPr>
              <a:t>16</a:t>
            </a:r>
            <a:r>
              <a:rPr lang="en-ID" sz="1600" b="0" i="0" u="none" strike="noStrike" dirty="0">
                <a:solidFill>
                  <a:srgbClr val="000000"/>
                </a:solidFill>
                <a:effectLst/>
                <a:cs typeface="Arial" panose="020B0604020202020204" pitchFamily="34" charset="0"/>
              </a:rPr>
              <a:t>. </a:t>
            </a:r>
            <a:r>
              <a:rPr lang="en-ID" sz="1600" dirty="0"/>
              <a:t>Solar PV and Battery Voltage Trend (April 25)</a:t>
            </a:r>
            <a:endParaRPr lang="en-ID" sz="1600" dirty="0">
              <a:cs typeface="Arial" panose="020B0604020202020204" pitchFamily="34" charset="0"/>
            </a:endParaRPr>
          </a:p>
        </p:txBody>
      </p:sp>
      <p:pic>
        <p:nvPicPr>
          <p:cNvPr id="8198" name="Picture 6">
            <a:extLst>
              <a:ext uri="{FF2B5EF4-FFF2-40B4-BE49-F238E27FC236}">
                <a16:creationId xmlns:a16="http://schemas.microsoft.com/office/drawing/2014/main" id="{0BC6EAFF-AAE6-297D-C868-1F8F73034C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570181" y="1928867"/>
            <a:ext cx="8932883" cy="4008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9069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7A92AF3-4064-59AE-2958-C16B03F697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8B2ADC-2040-1FF9-EE96-66EBF8F86048}"/>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B90DE1ED-DE7F-93F7-0F44-60DD9FBA01A5}"/>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F4CA009E-080D-447F-49E3-D3548573E7EC}"/>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BCF3F21F-9B94-B523-E56F-2355936ACE0B}"/>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26,2026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FD81077F-36EB-F84F-77E3-31D7102B71CF}"/>
              </a:ext>
            </a:extLst>
          </p:cNvPr>
          <p:cNvSpPr txBox="1"/>
          <p:nvPr/>
        </p:nvSpPr>
        <p:spPr>
          <a:xfrm>
            <a:off x="3548149" y="6246146"/>
            <a:ext cx="6093228" cy="338554"/>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a:t>
            </a:r>
            <a:r>
              <a:rPr lang="en-ID" sz="1600" dirty="0">
                <a:solidFill>
                  <a:srgbClr val="000000"/>
                </a:solidFill>
                <a:cs typeface="Arial" panose="020B0604020202020204" pitchFamily="34" charset="0"/>
              </a:rPr>
              <a:t>17</a:t>
            </a:r>
            <a:r>
              <a:rPr lang="en-ID" sz="1600" b="0" i="0" u="none" strike="noStrike" dirty="0">
                <a:solidFill>
                  <a:srgbClr val="000000"/>
                </a:solidFill>
                <a:effectLst/>
                <a:cs typeface="Arial" panose="020B0604020202020204" pitchFamily="34" charset="0"/>
              </a:rPr>
              <a:t>. </a:t>
            </a:r>
            <a:r>
              <a:rPr lang="en-ID" sz="1600" dirty="0"/>
              <a:t>Grid and Inverter Voltage Trend (April 26)</a:t>
            </a:r>
            <a:endParaRPr lang="en-ID" sz="1600" dirty="0">
              <a:cs typeface="Arial" panose="020B0604020202020204" pitchFamily="34" charset="0"/>
            </a:endParaRPr>
          </a:p>
        </p:txBody>
      </p:sp>
      <p:pic>
        <p:nvPicPr>
          <p:cNvPr id="9222" name="Picture 6">
            <a:extLst>
              <a:ext uri="{FF2B5EF4-FFF2-40B4-BE49-F238E27FC236}">
                <a16:creationId xmlns:a16="http://schemas.microsoft.com/office/drawing/2014/main" id="{21D8DAD8-30D4-D02F-BFFC-F9A5D951D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432967" y="2068170"/>
            <a:ext cx="7557075" cy="4123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929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7A0D192-EEA1-BDEA-4BA0-0C79C80855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FC36BEC-0753-F86E-ACA6-7A9269FC8AB6}"/>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922357A5-D49C-AC22-3E2C-53BCB9C5F7B5}"/>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8F1E5831-A11B-8E1D-B0C4-09D1F284C28C}"/>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D481FC9A-BEEA-814F-8F40-D6A789AE9B79}"/>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26,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A0398682-AC69-D361-2BA9-46DD971BD344}"/>
              </a:ext>
            </a:extLst>
          </p:cNvPr>
          <p:cNvSpPr txBox="1"/>
          <p:nvPr/>
        </p:nvSpPr>
        <p:spPr>
          <a:xfrm>
            <a:off x="3548149" y="6193247"/>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a:t>
            </a:r>
            <a:r>
              <a:rPr lang="en-ID" sz="1600" dirty="0">
                <a:solidFill>
                  <a:srgbClr val="000000"/>
                </a:solidFill>
                <a:cs typeface="Arial" panose="020B0604020202020204" pitchFamily="34" charset="0"/>
              </a:rPr>
              <a:t>18</a:t>
            </a:r>
            <a:r>
              <a:rPr lang="en-ID" sz="1600" b="0" i="0" u="none" strike="noStrike" dirty="0">
                <a:solidFill>
                  <a:srgbClr val="000000"/>
                </a:solidFill>
                <a:effectLst/>
                <a:cs typeface="Arial" panose="020B0604020202020204" pitchFamily="34" charset="0"/>
              </a:rPr>
              <a:t>. </a:t>
            </a:r>
            <a:r>
              <a:rPr lang="en-ID" dirty="0"/>
              <a:t> </a:t>
            </a:r>
            <a:r>
              <a:rPr lang="en-ID" sz="1600" dirty="0"/>
              <a:t>Solar PV and Battery Voltage Trend (April 26</a:t>
            </a:r>
            <a:r>
              <a:rPr lang="en-ID" dirty="0"/>
              <a:t>)</a:t>
            </a:r>
            <a:endParaRPr lang="en-ID" sz="1600" dirty="0">
              <a:cs typeface="Arial" panose="020B0604020202020204" pitchFamily="34" charset="0"/>
            </a:endParaRPr>
          </a:p>
        </p:txBody>
      </p:sp>
      <p:pic>
        <p:nvPicPr>
          <p:cNvPr id="10242" name="Picture 2">
            <a:extLst>
              <a:ext uri="{FF2B5EF4-FFF2-40B4-BE49-F238E27FC236}">
                <a16:creationId xmlns:a16="http://schemas.microsoft.com/office/drawing/2014/main" id="{6EDFC5C6-CF4B-22CA-EED2-E01ACD6E9A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495804" y="1905495"/>
            <a:ext cx="7431402" cy="4055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4564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7D821C1-B6FE-04BF-720C-58AB0FD3C44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BA064C-DDBD-D518-54B9-7F46D0B67DF5}"/>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65CA7C02-BCB3-BFF5-C2D5-CAEFCD0A5E68}"/>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E552509B-A200-3610-3DFE-C61CEFC2229C}"/>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DBF5E73F-8CE7-D7EF-6853-AC6D662396DC}"/>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27,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8DFE33FA-1CCF-729E-64C8-412FEBE1AB3C}"/>
              </a:ext>
            </a:extLst>
          </p:cNvPr>
          <p:cNvSpPr txBox="1"/>
          <p:nvPr/>
        </p:nvSpPr>
        <p:spPr>
          <a:xfrm>
            <a:off x="3548149" y="6246146"/>
            <a:ext cx="6093228" cy="338554"/>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a:t>
            </a:r>
            <a:r>
              <a:rPr lang="en-ID" sz="1600" dirty="0">
                <a:solidFill>
                  <a:srgbClr val="000000"/>
                </a:solidFill>
                <a:cs typeface="Arial" panose="020B0604020202020204" pitchFamily="34" charset="0"/>
              </a:rPr>
              <a:t>19</a:t>
            </a:r>
            <a:r>
              <a:rPr lang="en-ID" sz="1600" b="0" i="0" u="none" strike="noStrike" dirty="0">
                <a:solidFill>
                  <a:srgbClr val="000000"/>
                </a:solidFill>
                <a:effectLst/>
                <a:cs typeface="Arial" panose="020B0604020202020204" pitchFamily="34" charset="0"/>
              </a:rPr>
              <a:t>. </a:t>
            </a:r>
            <a:r>
              <a:rPr lang="en-ID" sz="1600" dirty="0"/>
              <a:t>Grid and Inverter Voltage Trend (April 27)</a:t>
            </a:r>
            <a:endParaRPr lang="en-ID" sz="1600" dirty="0">
              <a:cs typeface="Arial" panose="020B0604020202020204" pitchFamily="34" charset="0"/>
            </a:endParaRPr>
          </a:p>
        </p:txBody>
      </p:sp>
      <p:pic>
        <p:nvPicPr>
          <p:cNvPr id="11266" name="Picture 2">
            <a:extLst>
              <a:ext uri="{FF2B5EF4-FFF2-40B4-BE49-F238E27FC236}">
                <a16:creationId xmlns:a16="http://schemas.microsoft.com/office/drawing/2014/main" id="{3B5C997A-9EB0-8DB8-E24E-7BDEFEE39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2059" y="2068170"/>
            <a:ext cx="8191006" cy="4123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1555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C3CEF8B-B3CB-2CE9-3AC1-343B80D511E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A9C0F5-296D-966C-AE0B-E8ADFC800EFC}"/>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4E1E7717-0F4B-8166-CED8-FC4D5508E835}"/>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877A9CCA-9CA6-ACF6-8665-B80256C21AFD}"/>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BF0D78A9-8CEA-C9C7-5885-E6B610C8A0B2}"/>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27,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0DC20EB9-398A-D10D-423E-E8FAF19AC449}"/>
              </a:ext>
            </a:extLst>
          </p:cNvPr>
          <p:cNvSpPr txBox="1"/>
          <p:nvPr/>
        </p:nvSpPr>
        <p:spPr>
          <a:xfrm>
            <a:off x="3548149" y="6193247"/>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20. </a:t>
            </a:r>
            <a:r>
              <a:rPr lang="en-ID" dirty="0"/>
              <a:t> </a:t>
            </a:r>
            <a:r>
              <a:rPr lang="en-ID" sz="1600" dirty="0"/>
              <a:t>Solar PV and Battery Voltage Trend (April 27</a:t>
            </a:r>
            <a:r>
              <a:rPr lang="en-ID" dirty="0"/>
              <a:t>)</a:t>
            </a:r>
            <a:endParaRPr lang="en-ID" sz="1600" dirty="0">
              <a:cs typeface="Arial" panose="020B0604020202020204" pitchFamily="34" charset="0"/>
            </a:endParaRPr>
          </a:p>
        </p:txBody>
      </p:sp>
      <p:pic>
        <p:nvPicPr>
          <p:cNvPr id="12290" name="Picture 2">
            <a:extLst>
              <a:ext uri="{FF2B5EF4-FFF2-40B4-BE49-F238E27FC236}">
                <a16:creationId xmlns:a16="http://schemas.microsoft.com/office/drawing/2014/main" id="{D234BB9A-D0A3-790C-72B4-48F21C3440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781" y="1871205"/>
            <a:ext cx="8831283" cy="4123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0019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D63C0BD-5EA8-61DA-16D4-8CC7674807E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A79FEC-5C5F-F3A6-4FDC-5821B6DE9779}"/>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0D1C014D-73E1-8459-B627-00B93303F9D4}"/>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F067A46F-C571-4D9A-ECE6-5FF736934F00}"/>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331EDF65-EA98-3627-8576-BC4853226900}"/>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28,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79B0DEFF-EB8D-22E0-6609-D95962A9C32A}"/>
              </a:ext>
            </a:extLst>
          </p:cNvPr>
          <p:cNvSpPr txBox="1"/>
          <p:nvPr/>
        </p:nvSpPr>
        <p:spPr>
          <a:xfrm>
            <a:off x="3548149" y="6246146"/>
            <a:ext cx="6093228" cy="338554"/>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21. </a:t>
            </a:r>
            <a:r>
              <a:rPr lang="en-ID" sz="1600" dirty="0"/>
              <a:t>Grid and Inverter Voltage Trend (April 28)</a:t>
            </a:r>
            <a:endParaRPr lang="en-ID" sz="1600" dirty="0">
              <a:cs typeface="Arial" panose="020B0604020202020204" pitchFamily="34" charset="0"/>
            </a:endParaRPr>
          </a:p>
        </p:txBody>
      </p:sp>
      <p:pic>
        <p:nvPicPr>
          <p:cNvPr id="13314" name="Picture 2">
            <a:extLst>
              <a:ext uri="{FF2B5EF4-FFF2-40B4-BE49-F238E27FC236}">
                <a16:creationId xmlns:a16="http://schemas.microsoft.com/office/drawing/2014/main" id="{A7024AE1-EB59-094B-027A-7D97C29FA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838036" y="2068170"/>
            <a:ext cx="8665029" cy="4177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317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77BFEA1-1941-9C20-118A-C92586FB225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F8FAF87-BEE4-8C05-D74D-192C7570FDC8}"/>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79BF45D0-CBA8-FBA5-2D20-48C1CD847C3A}"/>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25F90A20-ED00-B39B-71A7-07E9E4114CFC}"/>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367E947E-974A-7A02-F0F0-6561389AF40D}"/>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28,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15E6399A-8F88-6C11-19AD-25E9213D9EED}"/>
              </a:ext>
            </a:extLst>
          </p:cNvPr>
          <p:cNvSpPr txBox="1"/>
          <p:nvPr/>
        </p:nvSpPr>
        <p:spPr>
          <a:xfrm>
            <a:off x="3548149" y="6193247"/>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22. </a:t>
            </a:r>
            <a:r>
              <a:rPr lang="en-ID" dirty="0"/>
              <a:t> </a:t>
            </a:r>
            <a:r>
              <a:rPr lang="en-ID" sz="1600" dirty="0"/>
              <a:t>Solar PV and Battery Voltage Trend (April 28</a:t>
            </a:r>
            <a:r>
              <a:rPr lang="en-ID" dirty="0"/>
              <a:t>)</a:t>
            </a:r>
            <a:endParaRPr lang="en-ID" sz="1600" dirty="0">
              <a:cs typeface="Arial" panose="020B0604020202020204" pitchFamily="34" charset="0"/>
            </a:endParaRPr>
          </a:p>
        </p:txBody>
      </p:sp>
      <p:pic>
        <p:nvPicPr>
          <p:cNvPr id="12290" name="Picture 2">
            <a:extLst>
              <a:ext uri="{FF2B5EF4-FFF2-40B4-BE49-F238E27FC236}">
                <a16:creationId xmlns:a16="http://schemas.microsoft.com/office/drawing/2014/main" id="{1F90F725-76FD-EEFE-B32D-61CDC28163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691230" y="2110177"/>
            <a:ext cx="7040550" cy="3645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7071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30202AA-6E6B-C782-114E-6EDF4467249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1EFA446-BD33-35CA-8953-FC13D4AD506F}"/>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AA95DE57-7CC1-293B-B6C4-ED34FFA4A613}"/>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81F88975-786E-E056-706A-5F26F21DFB64}"/>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DE6FE32-A97B-7E47-1AD5-634836CC5238}"/>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29,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21B6F6D9-00EA-6EFF-F025-AD4551D25D41}"/>
              </a:ext>
            </a:extLst>
          </p:cNvPr>
          <p:cNvSpPr txBox="1"/>
          <p:nvPr/>
        </p:nvSpPr>
        <p:spPr>
          <a:xfrm>
            <a:off x="3548149" y="6193247"/>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23. </a:t>
            </a:r>
            <a:r>
              <a:rPr lang="en-ID" dirty="0"/>
              <a:t> </a:t>
            </a:r>
            <a:r>
              <a:rPr lang="en-ID" sz="1600" dirty="0"/>
              <a:t> Grid and Inverter Voltage Trend (April 29</a:t>
            </a:r>
            <a:r>
              <a:rPr lang="en-ID" dirty="0"/>
              <a:t>)</a:t>
            </a:r>
            <a:endParaRPr lang="en-ID" sz="1600" dirty="0">
              <a:cs typeface="Arial" panose="020B0604020202020204" pitchFamily="34" charset="0"/>
            </a:endParaRPr>
          </a:p>
        </p:txBody>
      </p:sp>
      <p:pic>
        <p:nvPicPr>
          <p:cNvPr id="14340" name="Picture 4">
            <a:extLst>
              <a:ext uri="{FF2B5EF4-FFF2-40B4-BE49-F238E27FC236}">
                <a16:creationId xmlns:a16="http://schemas.microsoft.com/office/drawing/2014/main" id="{CF0A189E-514A-7588-0097-281518CEBA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764145" y="2068170"/>
            <a:ext cx="8738920" cy="4046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686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25AF5D6-25E8-54A2-2A88-AB41DF1A2E8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D77CB1B-130A-6355-151B-9B584869CAC4}"/>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E8B31711-0545-2D61-E852-95F86DE1A83C}"/>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954353C1-EC3B-0EE6-294C-1F18006F906B}"/>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DFE1CA9F-B4A6-E79E-2A01-7808175C8749}"/>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29,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BCBFE629-7173-CEAE-B4B7-EAF0104504FB}"/>
              </a:ext>
            </a:extLst>
          </p:cNvPr>
          <p:cNvSpPr txBox="1"/>
          <p:nvPr/>
        </p:nvSpPr>
        <p:spPr>
          <a:xfrm>
            <a:off x="3548149" y="6193247"/>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24. </a:t>
            </a:r>
            <a:r>
              <a:rPr lang="en-ID" dirty="0"/>
              <a:t> </a:t>
            </a:r>
            <a:r>
              <a:rPr lang="en-ID" sz="1600" dirty="0"/>
              <a:t>Solar PV and Battery Voltage Trend (April 29</a:t>
            </a:r>
            <a:r>
              <a:rPr lang="en-ID" dirty="0"/>
              <a:t>)</a:t>
            </a:r>
            <a:endParaRPr lang="en-ID" sz="1600" dirty="0">
              <a:cs typeface="Arial" panose="020B0604020202020204" pitchFamily="34" charset="0"/>
            </a:endParaRPr>
          </a:p>
        </p:txBody>
      </p:sp>
      <p:pic>
        <p:nvPicPr>
          <p:cNvPr id="15364" name="Picture 4">
            <a:extLst>
              <a:ext uri="{FF2B5EF4-FFF2-40B4-BE49-F238E27FC236}">
                <a16:creationId xmlns:a16="http://schemas.microsoft.com/office/drawing/2014/main" id="{76F6EC4E-C122-3A67-DA55-58E0933685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782617" y="1930401"/>
            <a:ext cx="8720447" cy="4137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182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141C984-6D5D-144E-F994-B4D0D537E5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229D34-485A-3E63-1F67-2F0BFC25F3D0}"/>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BA81D893-3A17-A00D-D541-43FD7B0DB17C}"/>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918DF296-9574-5D2E-C166-CF434280A40D}"/>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13594EE0-800C-A2C0-983A-5476A3EE3194}"/>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30,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D86F6693-BEAC-47E6-D6EC-A632ED1EF2C5}"/>
              </a:ext>
            </a:extLst>
          </p:cNvPr>
          <p:cNvSpPr txBox="1"/>
          <p:nvPr/>
        </p:nvSpPr>
        <p:spPr>
          <a:xfrm>
            <a:off x="3548149" y="6193247"/>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25. </a:t>
            </a:r>
            <a:r>
              <a:rPr lang="en-ID" dirty="0"/>
              <a:t> </a:t>
            </a:r>
            <a:r>
              <a:rPr lang="en-ID" sz="1600" dirty="0"/>
              <a:t> Grid and Inverter Voltage Trend (April 30</a:t>
            </a:r>
            <a:r>
              <a:rPr lang="en-ID" dirty="0"/>
              <a:t>)</a:t>
            </a:r>
            <a:endParaRPr lang="en-ID" sz="1600" dirty="0">
              <a:cs typeface="Arial" panose="020B0604020202020204" pitchFamily="34" charset="0"/>
            </a:endParaRPr>
          </a:p>
        </p:txBody>
      </p:sp>
      <p:pic>
        <p:nvPicPr>
          <p:cNvPr id="16386" name="Picture 2">
            <a:extLst>
              <a:ext uri="{FF2B5EF4-FFF2-40B4-BE49-F238E27FC236}">
                <a16:creationId xmlns:a16="http://schemas.microsoft.com/office/drawing/2014/main" id="{BCF209D4-B458-F461-D772-0529344E8C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7891" y="2068170"/>
            <a:ext cx="9411854" cy="4123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3090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A698494-CD2C-4CDF-5D06-9200C8D318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62F689-6DA6-D647-F255-DB29B1739CA7}"/>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B6767DED-E26A-8CA1-2E8C-755967E1E46C}"/>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C6A07C3A-706F-CBA2-F086-216398D11373}"/>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6E5B438E-9230-AC70-2054-F5B39CBB14B6}"/>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April 30,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7BB9F311-7301-6ABD-6C33-8ADFA51DAF27}"/>
              </a:ext>
            </a:extLst>
          </p:cNvPr>
          <p:cNvSpPr txBox="1"/>
          <p:nvPr/>
        </p:nvSpPr>
        <p:spPr>
          <a:xfrm>
            <a:off x="3548149" y="6193247"/>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26. </a:t>
            </a:r>
            <a:r>
              <a:rPr lang="en-ID" dirty="0"/>
              <a:t> </a:t>
            </a:r>
            <a:r>
              <a:rPr lang="en-ID" sz="1600" dirty="0"/>
              <a:t>Solar PV and Battery Voltage Trend (April 30</a:t>
            </a:r>
            <a:r>
              <a:rPr lang="en-ID" dirty="0"/>
              <a:t>)</a:t>
            </a:r>
            <a:endParaRPr lang="en-ID" sz="1600" dirty="0">
              <a:cs typeface="Arial" panose="020B0604020202020204" pitchFamily="34" charset="0"/>
            </a:endParaRPr>
          </a:p>
        </p:txBody>
      </p:sp>
      <p:pic>
        <p:nvPicPr>
          <p:cNvPr id="17410" name="Picture 2">
            <a:extLst>
              <a:ext uri="{FF2B5EF4-FFF2-40B4-BE49-F238E27FC236}">
                <a16:creationId xmlns:a16="http://schemas.microsoft.com/office/drawing/2014/main" id="{B6607880-1294-C830-BDC6-A152FA7653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5673" y="1871205"/>
            <a:ext cx="8757391" cy="4123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828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44D19DC-EA5C-7B69-0661-5B1B4FC555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DF8196-2C8A-0965-31F6-A8DA6EB04EDC}"/>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43F8EF98-C568-D89C-69B5-3C263C7B2438}"/>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7D5B7399-CB92-95F4-E37B-0144DB7CC4B1}"/>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41CE5C33-069A-8386-8634-7345053A99CD}"/>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With Load Phase</a:t>
            </a:r>
          </a:p>
          <a:p>
            <a:r>
              <a:rPr lang="en-US" sz="1600" b="1" dirty="0">
                <a:solidFill>
                  <a:srgbClr val="1D3784"/>
                </a:solidFill>
                <a:latin typeface="Century Gothic" panose="020B0502020202020204" pitchFamily="34" charset="0"/>
                <a:ea typeface="Arial MT"/>
                <a:cs typeface="Arial MT"/>
              </a:rPr>
              <a:t>May 3, 2026</a:t>
            </a:r>
          </a:p>
        </p:txBody>
      </p:sp>
      <p:sp>
        <p:nvSpPr>
          <p:cNvPr id="7" name="TextBox 6">
            <a:extLst>
              <a:ext uri="{FF2B5EF4-FFF2-40B4-BE49-F238E27FC236}">
                <a16:creationId xmlns:a16="http://schemas.microsoft.com/office/drawing/2014/main" id="{2704B9D9-51F8-B8D7-2C1B-72F88EF2E727}"/>
              </a:ext>
            </a:extLst>
          </p:cNvPr>
          <p:cNvSpPr txBox="1"/>
          <p:nvPr/>
        </p:nvSpPr>
        <p:spPr>
          <a:xfrm>
            <a:off x="3548149" y="6193247"/>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27. </a:t>
            </a:r>
            <a:r>
              <a:rPr lang="en-ID" dirty="0"/>
              <a:t> </a:t>
            </a:r>
            <a:r>
              <a:rPr lang="en-ID" sz="1600" dirty="0"/>
              <a:t> Grid and Inverter Voltage Trend (May 3</a:t>
            </a:r>
            <a:r>
              <a:rPr lang="en-ID" dirty="0"/>
              <a:t>)</a:t>
            </a:r>
            <a:endParaRPr lang="en-ID" sz="1600" dirty="0">
              <a:cs typeface="Arial" panose="020B0604020202020204" pitchFamily="34" charset="0"/>
            </a:endParaRPr>
          </a:p>
        </p:txBody>
      </p:sp>
      <p:pic>
        <p:nvPicPr>
          <p:cNvPr id="18434" name="Picture 2">
            <a:extLst>
              <a:ext uri="{FF2B5EF4-FFF2-40B4-BE49-F238E27FC236}">
                <a16:creationId xmlns:a16="http://schemas.microsoft.com/office/drawing/2014/main" id="{A928EF45-15F5-1E7F-B409-6545026E9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648031" y="2169717"/>
            <a:ext cx="8895938" cy="382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6405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A17A568-D940-48AA-8689-BE20C6338BF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3120BB-2C28-7D71-A8FD-B36A36925D03}"/>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B84F4A15-9721-359A-9513-2B89E1A68D55}"/>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13488974-476D-1339-0AFB-C4113AFEF2E7}"/>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460F8E79-F7CF-5E23-6985-BA7C1DB71078}"/>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3,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94E88348-54C9-38D1-C297-A37EB4DB304F}"/>
              </a:ext>
            </a:extLst>
          </p:cNvPr>
          <p:cNvSpPr txBox="1"/>
          <p:nvPr/>
        </p:nvSpPr>
        <p:spPr>
          <a:xfrm>
            <a:off x="3548149" y="6193247"/>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28. </a:t>
            </a:r>
            <a:r>
              <a:rPr lang="en-ID" dirty="0"/>
              <a:t> </a:t>
            </a:r>
            <a:r>
              <a:rPr lang="en-ID" sz="1600" dirty="0"/>
              <a:t>Solar PV and Battery Voltage Trend (May 3</a:t>
            </a:r>
            <a:r>
              <a:rPr lang="en-ID" dirty="0"/>
              <a:t>)</a:t>
            </a:r>
            <a:endParaRPr lang="en-ID" sz="1600" dirty="0">
              <a:cs typeface="Arial" panose="020B0604020202020204" pitchFamily="34" charset="0"/>
            </a:endParaRPr>
          </a:p>
        </p:txBody>
      </p:sp>
      <p:pic>
        <p:nvPicPr>
          <p:cNvPr id="19458" name="Picture 2">
            <a:extLst>
              <a:ext uri="{FF2B5EF4-FFF2-40B4-BE49-F238E27FC236}">
                <a16:creationId xmlns:a16="http://schemas.microsoft.com/office/drawing/2014/main" id="{267BC9DF-2AB6-ADF0-2847-6C7179755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422400" y="1882733"/>
            <a:ext cx="9080665" cy="4194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378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5B6B027-EDD9-3198-440D-737E1C95615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440DF1-1382-A333-81CD-9DD1D69D1741}"/>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A1E2113F-0586-EBBD-45FC-035F0499FEBE}"/>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78F359B3-53F2-7F7B-DB1D-E716D31018F4}"/>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4BD8DABA-7B2E-677B-A4F4-E2F5DFA11BCC}"/>
              </a:ext>
            </a:extLst>
          </p:cNvPr>
          <p:cNvSpPr txBox="1"/>
          <p:nvPr/>
        </p:nvSpPr>
        <p:spPr>
          <a:xfrm>
            <a:off x="618835" y="1572694"/>
            <a:ext cx="11185340" cy="338554"/>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4, 2026</a:t>
            </a:r>
          </a:p>
        </p:txBody>
      </p:sp>
      <p:sp>
        <p:nvSpPr>
          <p:cNvPr id="7" name="TextBox 6">
            <a:extLst>
              <a:ext uri="{FF2B5EF4-FFF2-40B4-BE49-F238E27FC236}">
                <a16:creationId xmlns:a16="http://schemas.microsoft.com/office/drawing/2014/main" id="{11E9B510-5506-D168-5B11-37D4229F3DD5}"/>
              </a:ext>
            </a:extLst>
          </p:cNvPr>
          <p:cNvSpPr txBox="1"/>
          <p:nvPr/>
        </p:nvSpPr>
        <p:spPr>
          <a:xfrm>
            <a:off x="4013876" y="6247049"/>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2</a:t>
            </a:r>
            <a:r>
              <a:rPr lang="en-ID" sz="1600" dirty="0">
                <a:solidFill>
                  <a:srgbClr val="000000"/>
                </a:solidFill>
                <a:cs typeface="Arial" panose="020B0604020202020204" pitchFamily="34" charset="0"/>
              </a:rPr>
              <a:t>9</a:t>
            </a:r>
            <a:r>
              <a:rPr lang="en-ID" sz="1600" b="0" i="0" u="none" strike="noStrike" dirty="0">
                <a:solidFill>
                  <a:srgbClr val="000000"/>
                </a:solidFill>
                <a:effectLst/>
                <a:cs typeface="Arial" panose="020B0604020202020204" pitchFamily="34" charset="0"/>
              </a:rPr>
              <a:t>. </a:t>
            </a:r>
            <a:r>
              <a:rPr lang="en-ID" dirty="0"/>
              <a:t> </a:t>
            </a:r>
            <a:r>
              <a:rPr lang="en-ID" sz="1600" dirty="0"/>
              <a:t> Grid and Inverter Voltage Trend (May 4</a:t>
            </a:r>
            <a:r>
              <a:rPr lang="en-ID" dirty="0"/>
              <a:t>)</a:t>
            </a:r>
            <a:endParaRPr lang="en-ID" sz="1600" dirty="0">
              <a:cs typeface="Arial" panose="020B0604020202020204" pitchFamily="34" charset="0"/>
            </a:endParaRPr>
          </a:p>
        </p:txBody>
      </p:sp>
      <p:pic>
        <p:nvPicPr>
          <p:cNvPr id="20482" name="Picture 2">
            <a:extLst>
              <a:ext uri="{FF2B5EF4-FFF2-40B4-BE49-F238E27FC236}">
                <a16:creationId xmlns:a16="http://schemas.microsoft.com/office/drawing/2014/main" id="{9DA4C84B-319D-E32A-5C6E-D2445B7DFA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579418" y="1911248"/>
            <a:ext cx="9249893" cy="4240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42202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84CC895-6D0E-59B2-F68C-DC4BBDEBB4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90AFEC9-F5F9-2DF1-0DF0-1744A409ACB3}"/>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E6B34714-DA39-D011-A3AC-A94C46F91CCE}"/>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33FB19B9-8B6E-41DD-4556-D1055C1F20D7}"/>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AC94EB1-A3D0-1DBE-4494-26001369C24D}"/>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4,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B79599F0-FB0A-5CFC-2FA7-D11787BC398C}"/>
              </a:ext>
            </a:extLst>
          </p:cNvPr>
          <p:cNvSpPr txBox="1"/>
          <p:nvPr/>
        </p:nvSpPr>
        <p:spPr>
          <a:xfrm>
            <a:off x="3913909" y="6177858"/>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30. </a:t>
            </a:r>
            <a:r>
              <a:rPr lang="en-ID" dirty="0"/>
              <a:t> </a:t>
            </a:r>
            <a:r>
              <a:rPr lang="en-ID" sz="1600" dirty="0"/>
              <a:t>Solar PV and Battery Voltage Trend (May 4</a:t>
            </a:r>
            <a:r>
              <a:rPr lang="en-ID" dirty="0"/>
              <a:t>)</a:t>
            </a:r>
            <a:endParaRPr lang="en-ID" sz="1600" dirty="0">
              <a:cs typeface="Arial" panose="020B0604020202020204" pitchFamily="34" charset="0"/>
            </a:endParaRPr>
          </a:p>
        </p:txBody>
      </p:sp>
      <p:pic>
        <p:nvPicPr>
          <p:cNvPr id="21506" name="Picture 2">
            <a:extLst>
              <a:ext uri="{FF2B5EF4-FFF2-40B4-BE49-F238E27FC236}">
                <a16:creationId xmlns:a16="http://schemas.microsoft.com/office/drawing/2014/main" id="{444C5803-02A6-EE51-ABF8-6FF158AF28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588655" y="1970227"/>
            <a:ext cx="8914410" cy="392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200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9B6EA3F-D2EC-860D-2FA4-F6B85BCB04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829A3E-178C-4B84-6AD1-FDFAE87BD353}"/>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164593C1-20CF-60A1-FE44-520A8CDC00E0}"/>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5A281258-A425-3020-A4AB-64EEFC01FD23}"/>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0038905-CC02-FE46-7507-FB8C46B04AC3}"/>
              </a:ext>
            </a:extLst>
          </p:cNvPr>
          <p:cNvSpPr txBox="1"/>
          <p:nvPr/>
        </p:nvSpPr>
        <p:spPr>
          <a:xfrm>
            <a:off x="618835" y="1572694"/>
            <a:ext cx="11185340" cy="338554"/>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6, 2026</a:t>
            </a:r>
          </a:p>
        </p:txBody>
      </p:sp>
      <p:sp>
        <p:nvSpPr>
          <p:cNvPr id="7" name="TextBox 6">
            <a:extLst>
              <a:ext uri="{FF2B5EF4-FFF2-40B4-BE49-F238E27FC236}">
                <a16:creationId xmlns:a16="http://schemas.microsoft.com/office/drawing/2014/main" id="{787E159C-A669-F13F-7B3F-B8663E1746DE}"/>
              </a:ext>
            </a:extLst>
          </p:cNvPr>
          <p:cNvSpPr txBox="1"/>
          <p:nvPr/>
        </p:nvSpPr>
        <p:spPr>
          <a:xfrm>
            <a:off x="4013876" y="6247049"/>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31. </a:t>
            </a:r>
            <a:r>
              <a:rPr lang="en-ID" dirty="0"/>
              <a:t> </a:t>
            </a:r>
            <a:r>
              <a:rPr lang="en-ID" sz="1600" dirty="0"/>
              <a:t> Grid and Inverter Voltage Trend (May 6</a:t>
            </a:r>
            <a:r>
              <a:rPr lang="en-ID" dirty="0"/>
              <a:t>)</a:t>
            </a:r>
            <a:endParaRPr lang="en-ID" sz="1600" dirty="0">
              <a:cs typeface="Arial" panose="020B0604020202020204" pitchFamily="34" charset="0"/>
            </a:endParaRPr>
          </a:p>
        </p:txBody>
      </p:sp>
      <p:pic>
        <p:nvPicPr>
          <p:cNvPr id="22530" name="Picture 2">
            <a:extLst>
              <a:ext uri="{FF2B5EF4-FFF2-40B4-BE49-F238E27FC236}">
                <a16:creationId xmlns:a16="http://schemas.microsoft.com/office/drawing/2014/main" id="{CC7A2D16-D979-8156-4A98-C9F6AA1C25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533236" y="2068170"/>
            <a:ext cx="8969830" cy="4123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54161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0E0BBF5-66B2-DE8A-D800-7E130911280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93A681-E676-1679-8E56-BA57F2864A9C}"/>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88589B2E-D4EB-7325-F545-7B054E08F69B}"/>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A6A73A96-4B75-BF1B-7F76-A7171F4860AA}"/>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BE1973F4-AB8D-A13B-532A-E4C316C7B7A1}"/>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6,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75ECF041-C031-F411-E79D-26F9E4F133DA}"/>
              </a:ext>
            </a:extLst>
          </p:cNvPr>
          <p:cNvSpPr txBox="1"/>
          <p:nvPr/>
        </p:nvSpPr>
        <p:spPr>
          <a:xfrm>
            <a:off x="3913909" y="6177858"/>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32. </a:t>
            </a:r>
            <a:r>
              <a:rPr lang="en-ID" dirty="0"/>
              <a:t> </a:t>
            </a:r>
            <a:r>
              <a:rPr lang="en-ID" sz="1600" dirty="0"/>
              <a:t>Solar PV and Battery Voltage Trend (May 6</a:t>
            </a:r>
            <a:r>
              <a:rPr lang="en-ID" dirty="0"/>
              <a:t>)</a:t>
            </a:r>
            <a:endParaRPr lang="en-ID" sz="1600" dirty="0">
              <a:cs typeface="Arial" panose="020B0604020202020204" pitchFamily="34" charset="0"/>
            </a:endParaRPr>
          </a:p>
        </p:txBody>
      </p:sp>
      <p:pic>
        <p:nvPicPr>
          <p:cNvPr id="23554" name="Picture 2">
            <a:extLst>
              <a:ext uri="{FF2B5EF4-FFF2-40B4-BE49-F238E27FC236}">
                <a16:creationId xmlns:a16="http://schemas.microsoft.com/office/drawing/2014/main" id="{733DA831-33F0-946D-5F29-EB700BBF0B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588655" y="1871205"/>
            <a:ext cx="8914410" cy="4123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635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8BC045D-8FBD-87AA-C741-86C916EC6A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CBA087D-055B-7B7F-E4FC-9F7427DD4FC8}"/>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5728AF1F-C95F-899E-B5B5-ECB04AC9FD61}"/>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1F428AAF-AE83-AC9D-094D-A06A98BA4F0D}"/>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6AF82E3-1E08-56E2-8133-EA41825A599F}"/>
              </a:ext>
            </a:extLst>
          </p:cNvPr>
          <p:cNvSpPr txBox="1"/>
          <p:nvPr/>
        </p:nvSpPr>
        <p:spPr>
          <a:xfrm>
            <a:off x="618835" y="1572694"/>
            <a:ext cx="11185340" cy="338554"/>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7, 2026</a:t>
            </a:r>
          </a:p>
        </p:txBody>
      </p:sp>
      <p:sp>
        <p:nvSpPr>
          <p:cNvPr id="7" name="TextBox 6">
            <a:extLst>
              <a:ext uri="{FF2B5EF4-FFF2-40B4-BE49-F238E27FC236}">
                <a16:creationId xmlns:a16="http://schemas.microsoft.com/office/drawing/2014/main" id="{05B8284E-F921-903B-E8DD-A95F0A84EE5D}"/>
              </a:ext>
            </a:extLst>
          </p:cNvPr>
          <p:cNvSpPr txBox="1"/>
          <p:nvPr/>
        </p:nvSpPr>
        <p:spPr>
          <a:xfrm>
            <a:off x="4013876" y="6247049"/>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33. </a:t>
            </a:r>
            <a:r>
              <a:rPr lang="en-ID" dirty="0"/>
              <a:t> </a:t>
            </a:r>
            <a:r>
              <a:rPr lang="en-ID" sz="1600" dirty="0"/>
              <a:t> Grid and Inverter Voltage Trend (May 7</a:t>
            </a:r>
            <a:r>
              <a:rPr lang="en-ID" dirty="0"/>
              <a:t>)</a:t>
            </a:r>
            <a:endParaRPr lang="en-ID" sz="1600" dirty="0">
              <a:cs typeface="Arial" panose="020B0604020202020204" pitchFamily="34" charset="0"/>
            </a:endParaRPr>
          </a:p>
        </p:txBody>
      </p:sp>
      <p:pic>
        <p:nvPicPr>
          <p:cNvPr id="24578" name="Picture 2">
            <a:extLst>
              <a:ext uri="{FF2B5EF4-FFF2-40B4-BE49-F238E27FC236}">
                <a16:creationId xmlns:a16="http://schemas.microsoft.com/office/drawing/2014/main" id="{4450606C-CDA2-464E-B075-DA97F350F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477818" y="2068170"/>
            <a:ext cx="9025247" cy="3792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1184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12B53AA-5313-C519-7C31-D5BE24D7270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25BB72C-7F19-D6CA-E40B-324E8CA315D5}"/>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A9980CE9-927E-69D7-5E1C-86115E39FD3F}"/>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17EEF80D-35F5-B889-5C23-1D56004DDB61}"/>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185131EB-CBB1-3764-F250-D67BFFA4C41B}"/>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7,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EFC8209F-B4A8-CCAA-F5A2-D417FE8D831A}"/>
              </a:ext>
            </a:extLst>
          </p:cNvPr>
          <p:cNvSpPr txBox="1"/>
          <p:nvPr/>
        </p:nvSpPr>
        <p:spPr>
          <a:xfrm>
            <a:off x="3913909" y="6177858"/>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a:t>
            </a:r>
            <a:r>
              <a:rPr lang="en-ID" sz="1600" dirty="0">
                <a:solidFill>
                  <a:srgbClr val="000000"/>
                </a:solidFill>
                <a:cs typeface="Arial" panose="020B0604020202020204" pitchFamily="34" charset="0"/>
              </a:rPr>
              <a:t>34</a:t>
            </a:r>
            <a:r>
              <a:rPr lang="en-ID" sz="1600" b="0" i="0" u="none" strike="noStrike" dirty="0">
                <a:solidFill>
                  <a:srgbClr val="000000"/>
                </a:solidFill>
                <a:effectLst/>
                <a:cs typeface="Arial" panose="020B0604020202020204" pitchFamily="34" charset="0"/>
              </a:rPr>
              <a:t>. </a:t>
            </a:r>
            <a:r>
              <a:rPr lang="en-ID" dirty="0"/>
              <a:t> </a:t>
            </a:r>
            <a:r>
              <a:rPr lang="en-ID" sz="1600" dirty="0"/>
              <a:t>Solar PV and Battery Voltage Trend (May 7</a:t>
            </a:r>
            <a:r>
              <a:rPr lang="en-ID" dirty="0"/>
              <a:t>)</a:t>
            </a:r>
            <a:endParaRPr lang="en-ID" sz="1600" dirty="0">
              <a:cs typeface="Arial" panose="020B0604020202020204" pitchFamily="34" charset="0"/>
            </a:endParaRPr>
          </a:p>
        </p:txBody>
      </p:sp>
      <p:pic>
        <p:nvPicPr>
          <p:cNvPr id="25602" name="Picture 2">
            <a:extLst>
              <a:ext uri="{FF2B5EF4-FFF2-40B4-BE49-F238E27FC236}">
                <a16:creationId xmlns:a16="http://schemas.microsoft.com/office/drawing/2014/main" id="{AEDE4EE2-0D92-257A-8EAD-99F6DF279F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570183" y="1918755"/>
            <a:ext cx="8932882" cy="4028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044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6BFCDE3-0C42-61FD-2A4D-2D1E8E613B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62F63C9-D229-AFC7-AECE-3B7F71079E51}"/>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137F5F49-6B00-E6A3-9B85-57C425D783F3}"/>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74DC54C7-8FE2-D786-C541-68ECFDA266EA}"/>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255A2B0D-73B1-14FD-45BC-120CFC2A83B9}"/>
              </a:ext>
            </a:extLst>
          </p:cNvPr>
          <p:cNvSpPr txBox="1"/>
          <p:nvPr/>
        </p:nvSpPr>
        <p:spPr>
          <a:xfrm>
            <a:off x="618835" y="1572694"/>
            <a:ext cx="11185340" cy="338554"/>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8, 2026</a:t>
            </a:r>
          </a:p>
        </p:txBody>
      </p:sp>
      <p:sp>
        <p:nvSpPr>
          <p:cNvPr id="7" name="TextBox 6">
            <a:extLst>
              <a:ext uri="{FF2B5EF4-FFF2-40B4-BE49-F238E27FC236}">
                <a16:creationId xmlns:a16="http://schemas.microsoft.com/office/drawing/2014/main" id="{A3D308C3-20A8-25AE-3355-AD08F62E70B6}"/>
              </a:ext>
            </a:extLst>
          </p:cNvPr>
          <p:cNvSpPr txBox="1"/>
          <p:nvPr/>
        </p:nvSpPr>
        <p:spPr>
          <a:xfrm>
            <a:off x="4013876" y="6247049"/>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35. </a:t>
            </a:r>
            <a:r>
              <a:rPr lang="en-ID" dirty="0"/>
              <a:t> </a:t>
            </a:r>
            <a:r>
              <a:rPr lang="en-ID" sz="1600" dirty="0"/>
              <a:t> Grid and Inverter Voltage Trend (May 8</a:t>
            </a:r>
            <a:r>
              <a:rPr lang="en-ID" dirty="0"/>
              <a:t>)</a:t>
            </a:r>
            <a:endParaRPr lang="en-ID" sz="1600" dirty="0">
              <a:cs typeface="Arial" panose="020B0604020202020204" pitchFamily="34" charset="0"/>
            </a:endParaRPr>
          </a:p>
        </p:txBody>
      </p:sp>
      <p:pic>
        <p:nvPicPr>
          <p:cNvPr id="26626" name="Picture 2">
            <a:extLst>
              <a:ext uri="{FF2B5EF4-FFF2-40B4-BE49-F238E27FC236}">
                <a16:creationId xmlns:a16="http://schemas.microsoft.com/office/drawing/2014/main" id="{1F8A91B0-005A-08AB-E279-C05FA869B4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570182" y="1911248"/>
            <a:ext cx="8932883" cy="4123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556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0FDB7F5-26EC-D0CE-E1D8-123682FA81D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446F09-F092-3764-2511-3BC649C0FF3D}"/>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AE04484E-74C8-424F-856F-DB257D080057}"/>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EA5AEDD0-21DA-04A9-36F2-907C099DD46C}"/>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56A1C152-6FA1-015F-D28E-059B2745C90E}"/>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8,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EFDD2537-4C75-B8B1-6DD5-DEA02EDA13FA}"/>
              </a:ext>
            </a:extLst>
          </p:cNvPr>
          <p:cNvSpPr txBox="1"/>
          <p:nvPr/>
        </p:nvSpPr>
        <p:spPr>
          <a:xfrm>
            <a:off x="3913909" y="6177858"/>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36. </a:t>
            </a:r>
            <a:r>
              <a:rPr lang="en-ID" dirty="0"/>
              <a:t> </a:t>
            </a:r>
            <a:r>
              <a:rPr lang="en-ID" sz="1600" dirty="0"/>
              <a:t>Solar PV and Battery Voltage Trend (May 8</a:t>
            </a:r>
            <a:r>
              <a:rPr lang="en-ID" dirty="0"/>
              <a:t>)</a:t>
            </a:r>
            <a:endParaRPr lang="en-ID" sz="1600" dirty="0">
              <a:cs typeface="Arial" panose="020B0604020202020204" pitchFamily="34" charset="0"/>
            </a:endParaRPr>
          </a:p>
        </p:txBody>
      </p:sp>
      <p:pic>
        <p:nvPicPr>
          <p:cNvPr id="27650" name="Picture 2">
            <a:extLst>
              <a:ext uri="{FF2B5EF4-FFF2-40B4-BE49-F238E27FC236}">
                <a16:creationId xmlns:a16="http://schemas.microsoft.com/office/drawing/2014/main" id="{88DC7EAB-7A52-0F4B-D488-C939DAF004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625601" y="2068170"/>
            <a:ext cx="8877464" cy="3965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9996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A0BFF02-F8CB-602E-59CB-AD23364C390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C5441E7-B7A5-DF38-3B00-83759AB67AC0}"/>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2FE66689-4176-86A3-683B-27F0342D2CFC}"/>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6" name="TextBox 5">
            <a:extLst>
              <a:ext uri="{FF2B5EF4-FFF2-40B4-BE49-F238E27FC236}">
                <a16:creationId xmlns:a16="http://schemas.microsoft.com/office/drawing/2014/main" id="{FB287A85-A8A2-CD5A-8D2E-6436E6C31EDF}"/>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9,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C872E31E-FF61-5A7E-653A-2661A8C69F9E}"/>
              </a:ext>
            </a:extLst>
          </p:cNvPr>
          <p:cNvSpPr txBox="1"/>
          <p:nvPr/>
        </p:nvSpPr>
        <p:spPr>
          <a:xfrm>
            <a:off x="3913909" y="6177858"/>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37. </a:t>
            </a:r>
            <a:r>
              <a:rPr lang="en-ID" dirty="0"/>
              <a:t> </a:t>
            </a:r>
            <a:r>
              <a:rPr lang="en-ID" sz="1600" dirty="0"/>
              <a:t>Solar PV and Battery Voltage Trend (May 9</a:t>
            </a:r>
            <a:r>
              <a:rPr lang="en-ID" dirty="0"/>
              <a:t>)</a:t>
            </a:r>
            <a:endParaRPr lang="en-ID" sz="1600" dirty="0">
              <a:cs typeface="Arial" panose="020B0604020202020204" pitchFamily="34" charset="0"/>
            </a:endParaRPr>
          </a:p>
        </p:txBody>
      </p:sp>
      <p:pic>
        <p:nvPicPr>
          <p:cNvPr id="8" name="Picture 7">
            <a:extLst>
              <a:ext uri="{FF2B5EF4-FFF2-40B4-BE49-F238E27FC236}">
                <a16:creationId xmlns:a16="http://schemas.microsoft.com/office/drawing/2014/main" id="{B7D11B63-6368-E0BC-EC92-07A6850FBE4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27047" y="1941062"/>
            <a:ext cx="8976017" cy="4112265"/>
          </a:xfrm>
          <a:prstGeom prst="rect">
            <a:avLst/>
          </a:prstGeom>
        </p:spPr>
      </p:pic>
    </p:spTree>
    <p:extLst>
      <p:ext uri="{BB962C8B-B14F-4D97-AF65-F5344CB8AC3E}">
        <p14:creationId xmlns:p14="http://schemas.microsoft.com/office/powerpoint/2010/main" val="41842362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FEDB40D-0618-31E5-E174-3F39C7C77F2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FCC51F-FFAB-0108-F69E-1BE492AAF487}"/>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E0E76411-D461-0CDD-4C9D-24A12DCCB503}"/>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593FBA76-872E-0DEE-8F81-119D3073C3F0}"/>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33C74ABF-0082-7AE6-61C6-388CA35EBCE5}"/>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9,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6666A0C6-DA6A-89E3-BFC0-CEBEC3E9FACA}"/>
              </a:ext>
            </a:extLst>
          </p:cNvPr>
          <p:cNvSpPr txBox="1"/>
          <p:nvPr/>
        </p:nvSpPr>
        <p:spPr>
          <a:xfrm>
            <a:off x="3913909" y="6177858"/>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38. </a:t>
            </a:r>
            <a:r>
              <a:rPr lang="en-ID" dirty="0"/>
              <a:t> </a:t>
            </a:r>
            <a:r>
              <a:rPr lang="en-ID" sz="1600" dirty="0"/>
              <a:t>Solar PV and Battery Voltage Trend (May 9</a:t>
            </a:r>
            <a:r>
              <a:rPr lang="en-ID" dirty="0"/>
              <a:t>)</a:t>
            </a:r>
            <a:endParaRPr lang="en-ID" sz="1600" dirty="0">
              <a:cs typeface="Arial" panose="020B0604020202020204" pitchFamily="34" charset="0"/>
            </a:endParaRPr>
          </a:p>
        </p:txBody>
      </p:sp>
      <p:pic>
        <p:nvPicPr>
          <p:cNvPr id="8" name="Picture 7">
            <a:extLst>
              <a:ext uri="{FF2B5EF4-FFF2-40B4-BE49-F238E27FC236}">
                <a16:creationId xmlns:a16="http://schemas.microsoft.com/office/drawing/2014/main" id="{F5E5B204-7FDC-D813-9F9E-82E30924BBF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50109" y="2338438"/>
            <a:ext cx="9052955" cy="3655962"/>
          </a:xfrm>
          <a:prstGeom prst="rect">
            <a:avLst/>
          </a:prstGeom>
        </p:spPr>
      </p:pic>
    </p:spTree>
    <p:extLst>
      <p:ext uri="{BB962C8B-B14F-4D97-AF65-F5344CB8AC3E}">
        <p14:creationId xmlns:p14="http://schemas.microsoft.com/office/powerpoint/2010/main" val="17299552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81EE411-EB1E-40F6-3CFC-5674D5AF52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23D8D0-C870-88ED-16B7-527DE6B5DD81}"/>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7004207F-A437-0103-6DA4-805AD07F278C}"/>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D1FA91F0-437E-6412-C746-499E9892DDF1}"/>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4DDF737C-38D0-1E0F-5747-E17E5AA4A0A5}"/>
              </a:ext>
            </a:extLst>
          </p:cNvPr>
          <p:cNvSpPr txBox="1"/>
          <p:nvPr/>
        </p:nvSpPr>
        <p:spPr>
          <a:xfrm>
            <a:off x="618835" y="1572694"/>
            <a:ext cx="11185340" cy="338554"/>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10, 2026</a:t>
            </a:r>
          </a:p>
        </p:txBody>
      </p:sp>
      <p:sp>
        <p:nvSpPr>
          <p:cNvPr id="7" name="TextBox 6">
            <a:extLst>
              <a:ext uri="{FF2B5EF4-FFF2-40B4-BE49-F238E27FC236}">
                <a16:creationId xmlns:a16="http://schemas.microsoft.com/office/drawing/2014/main" id="{BF4D32C6-5F00-DB2C-13B5-18A9333EA7B3}"/>
              </a:ext>
            </a:extLst>
          </p:cNvPr>
          <p:cNvSpPr txBox="1"/>
          <p:nvPr/>
        </p:nvSpPr>
        <p:spPr>
          <a:xfrm>
            <a:off x="4013876" y="6247049"/>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3</a:t>
            </a:r>
            <a:r>
              <a:rPr lang="en-ID" sz="1600" dirty="0">
                <a:solidFill>
                  <a:srgbClr val="000000"/>
                </a:solidFill>
                <a:cs typeface="Arial" panose="020B0604020202020204" pitchFamily="34" charset="0"/>
              </a:rPr>
              <a:t>9</a:t>
            </a:r>
            <a:r>
              <a:rPr lang="en-ID" sz="1600" b="0" i="0" u="none" strike="noStrike" dirty="0">
                <a:solidFill>
                  <a:srgbClr val="000000"/>
                </a:solidFill>
                <a:effectLst/>
                <a:cs typeface="Arial" panose="020B0604020202020204" pitchFamily="34" charset="0"/>
              </a:rPr>
              <a:t>. </a:t>
            </a:r>
            <a:r>
              <a:rPr lang="en-ID" dirty="0"/>
              <a:t> </a:t>
            </a:r>
            <a:r>
              <a:rPr lang="en-ID" sz="1600" dirty="0"/>
              <a:t> Grid and Inverter Voltage Trend (May 10</a:t>
            </a:r>
            <a:r>
              <a:rPr lang="en-ID" dirty="0"/>
              <a:t>)</a:t>
            </a:r>
            <a:endParaRPr lang="en-ID" sz="1600" dirty="0">
              <a:cs typeface="Arial" panose="020B0604020202020204" pitchFamily="34" charset="0"/>
            </a:endParaRPr>
          </a:p>
        </p:txBody>
      </p:sp>
      <p:pic>
        <p:nvPicPr>
          <p:cNvPr id="29698" name="Picture 2">
            <a:extLst>
              <a:ext uri="{FF2B5EF4-FFF2-40B4-BE49-F238E27FC236}">
                <a16:creationId xmlns:a16="http://schemas.microsoft.com/office/drawing/2014/main" id="{61A02095-D370-8B87-8895-FAADF8E4E1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422399" y="2068169"/>
            <a:ext cx="9790545" cy="4009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8068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355BBDA-DC79-44BA-F71D-7496E3EBEE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87909EB-8440-179D-01F1-DEDFC97E45A7}"/>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5A19B47B-EB6D-B8F7-0124-7AAEA8BB321B}"/>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084C326B-05E0-ED2E-FEF2-41BEA05C5760}"/>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2708760E-3992-B6DC-6268-E4441EA355E4}"/>
              </a:ext>
            </a:extLst>
          </p:cNvPr>
          <p:cNvSpPr txBox="1"/>
          <p:nvPr/>
        </p:nvSpPr>
        <p:spPr>
          <a:xfrm>
            <a:off x="618835" y="1572694"/>
            <a:ext cx="11185340" cy="597023"/>
          </a:xfrm>
          <a:prstGeom prst="rect">
            <a:avLst/>
          </a:prstGeom>
          <a:noFill/>
        </p:spPr>
        <p:txBody>
          <a:bodyPr wrap="square">
            <a:spAutoFit/>
          </a:bodyPr>
          <a:lstStyle/>
          <a:p>
            <a:r>
              <a:rPr lang="en-US" sz="1600" b="1" dirty="0">
                <a:solidFill>
                  <a:srgbClr val="1D3784"/>
                </a:solidFill>
                <a:latin typeface="Century Gothic" panose="020B0502020202020204" pitchFamily="34" charset="0"/>
                <a:ea typeface="Arial MT"/>
                <a:cs typeface="Arial MT"/>
              </a:rPr>
              <a:t>May 10, 2026</a:t>
            </a:r>
          </a:p>
          <a:p>
            <a:pPr>
              <a:lnSpc>
                <a:spcPct val="200000"/>
              </a:lnSpc>
            </a:pPr>
            <a:endParaRPr lang="en-US" sz="1000" b="1" i="1" dirty="0">
              <a:solidFill>
                <a:srgbClr val="1D3784"/>
              </a:solidFill>
              <a:effectLst/>
              <a:latin typeface="Century Gothic" panose="020B0502020202020204" pitchFamily="34" charset="0"/>
              <a:ea typeface="Arial MT"/>
              <a:cs typeface="Arial MT"/>
            </a:endParaRPr>
          </a:p>
        </p:txBody>
      </p:sp>
      <p:sp>
        <p:nvSpPr>
          <p:cNvPr id="7" name="TextBox 6">
            <a:extLst>
              <a:ext uri="{FF2B5EF4-FFF2-40B4-BE49-F238E27FC236}">
                <a16:creationId xmlns:a16="http://schemas.microsoft.com/office/drawing/2014/main" id="{EFACDD72-90F1-102B-3A0A-BEEF8339D45A}"/>
              </a:ext>
            </a:extLst>
          </p:cNvPr>
          <p:cNvSpPr txBox="1"/>
          <p:nvPr/>
        </p:nvSpPr>
        <p:spPr>
          <a:xfrm>
            <a:off x="3913909" y="6177858"/>
            <a:ext cx="6093228" cy="369332"/>
          </a:xfrm>
          <a:prstGeom prst="rect">
            <a:avLst/>
          </a:prstGeom>
          <a:noFill/>
        </p:spPr>
        <p:txBody>
          <a:bodyPr wrap="square">
            <a:spAutoFit/>
          </a:bodyPr>
          <a:lstStyle/>
          <a:p>
            <a:r>
              <a:rPr lang="en-ID" sz="1600" b="0" i="0" u="none" strike="noStrike" dirty="0">
                <a:solidFill>
                  <a:srgbClr val="000000"/>
                </a:solidFill>
                <a:effectLst/>
                <a:cs typeface="Arial" panose="020B0604020202020204" pitchFamily="34" charset="0"/>
              </a:rPr>
              <a:t>Figure 40. </a:t>
            </a:r>
            <a:r>
              <a:rPr lang="en-ID" dirty="0"/>
              <a:t> </a:t>
            </a:r>
            <a:r>
              <a:rPr lang="en-ID" sz="1600" dirty="0"/>
              <a:t>Solar PV and Battery Voltage Trend (May 10</a:t>
            </a:r>
            <a:r>
              <a:rPr lang="en-ID" dirty="0"/>
              <a:t>)</a:t>
            </a:r>
            <a:endParaRPr lang="en-ID" sz="1600" dirty="0">
              <a:cs typeface="Arial" panose="020B0604020202020204" pitchFamily="34" charset="0"/>
            </a:endParaRPr>
          </a:p>
        </p:txBody>
      </p:sp>
      <p:pic>
        <p:nvPicPr>
          <p:cNvPr id="28676" name="Picture 4">
            <a:extLst>
              <a:ext uri="{FF2B5EF4-FFF2-40B4-BE49-F238E27FC236}">
                <a16:creationId xmlns:a16="http://schemas.microsoft.com/office/drawing/2014/main" id="{A74EE3B7-B52F-5F93-EF11-24CD9BB9A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717964" y="1933162"/>
            <a:ext cx="8785101" cy="4000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9102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B81BD346-AC12-45B2-AEF6-569254FE192B}"/>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DA5F0856-5F54-475A-95DA-70F2FEDC06B4}"/>
              </a:ext>
            </a:extLst>
          </p:cNvPr>
          <p:cNvSpPr>
            <a:spLocks noChangeArrowheads="1"/>
          </p:cNvSpPr>
          <p:nvPr/>
        </p:nvSpPr>
        <p:spPr bwMode="auto">
          <a:xfrm>
            <a:off x="787367" y="1679772"/>
            <a:ext cx="530863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sz="1600" i="1" dirty="0">
                <a:latin typeface="+mn-lt"/>
                <a:cs typeface="Arial" panose="020B0604020202020204" pitchFamily="34" charset="0"/>
              </a:rPr>
              <a:t>Table 8. Anomaly Type Distribution — Both Periods Combined</a:t>
            </a:r>
            <a:r>
              <a:rPr kumimoji="0" lang="en-US" altLang="en-US" sz="1200" b="0" i="1" u="none" strike="noStrike" cap="none" normalizeH="0" baseline="0" dirty="0">
                <a:ln>
                  <a:noFill/>
                </a:ln>
                <a:solidFill>
                  <a:srgbClr val="000000"/>
                </a:solidFill>
                <a:effectLst/>
                <a:latin typeface="+mn-lt"/>
                <a:cs typeface="Arial" panose="020B0604020202020204" pitchFamily="34" charset="0"/>
              </a:rPr>
              <a:t>.</a:t>
            </a:r>
            <a:endParaRPr kumimoji="0" lang="en-US" altLang="en-US" sz="1200" b="0" i="1" u="none" strike="noStrike" cap="none" normalizeH="0" baseline="0" dirty="0">
              <a:ln>
                <a:noFill/>
              </a:ln>
              <a:solidFill>
                <a:schemeClr val="tx1"/>
              </a:solidFill>
              <a:effectLst/>
              <a:latin typeface="+mn-l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1" u="none" strike="noStrike" cap="none" normalizeH="0" baseline="0" dirty="0">
              <a:ln>
                <a:noFill/>
              </a:ln>
              <a:solidFill>
                <a:schemeClr val="tx1"/>
              </a:solidFill>
              <a:effectLst/>
              <a:latin typeface="+mn-lt"/>
              <a:cs typeface="Arial" panose="020B0604020202020204" pitchFamily="34" charset="0"/>
            </a:endParaRPr>
          </a:p>
        </p:txBody>
      </p:sp>
      <p:sp>
        <p:nvSpPr>
          <p:cNvPr id="10" name="Rectangle 2"/>
          <p:cNvSpPr>
            <a:spLocks noChangeArrowheads="1"/>
          </p:cNvSpPr>
          <p:nvPr/>
        </p:nvSpPr>
        <p:spPr bwMode="auto">
          <a:xfrm>
            <a:off x="2853018" y="2169180"/>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br>
              <a:rPr kumimoji="0" lang="en-US" sz="1800" b="0" i="0" u="none" strike="noStrike" cap="none" normalizeH="0" baseline="0" dirty="0">
                <a:ln>
                  <a:noFill/>
                </a:ln>
                <a:solidFill>
                  <a:schemeClr val="tx1"/>
                </a:solidFill>
                <a:effectLst/>
                <a:latin typeface="Arial" panose="020B0604020202020204" pitchFamily="34" charset="0"/>
              </a:rPr>
            </a:br>
            <a:endParaRPr kumimoji="0" 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EC36701B-6E62-14D9-5C32-72C4833C1750}"/>
              </a:ext>
            </a:extLst>
          </p:cNvPr>
          <p:cNvPicPr>
            <a:picLocks noChangeAspect="1"/>
          </p:cNvPicPr>
          <p:nvPr/>
        </p:nvPicPr>
        <p:blipFill>
          <a:blip r:embed="rId3"/>
          <a:stretch>
            <a:fillRect/>
          </a:stretch>
        </p:blipFill>
        <p:spPr>
          <a:xfrm>
            <a:off x="2258715" y="2068170"/>
            <a:ext cx="8171321" cy="3966932"/>
          </a:xfrm>
          <a:prstGeom prst="rect">
            <a:avLst/>
          </a:prstGeom>
        </p:spPr>
      </p:pic>
    </p:spTree>
    <p:extLst>
      <p:ext uri="{BB962C8B-B14F-4D97-AF65-F5344CB8AC3E}">
        <p14:creationId xmlns:p14="http://schemas.microsoft.com/office/powerpoint/2010/main" val="22987668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B7512F1-E522-D925-F246-6E0B6DF30E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B89A4AF-3BE1-03E6-2622-322BFFDC73CD}"/>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AFABFAFA-297D-1391-8A6B-8DFE3ADC9377}"/>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05867D3E-554B-8C0B-CD56-343B0E68C5AB}"/>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34736BBD-2988-D0A7-9F01-29124E26018B}"/>
              </a:ext>
            </a:extLst>
          </p:cNvPr>
          <p:cNvSpPr>
            <a:spLocks noChangeArrowheads="1"/>
          </p:cNvSpPr>
          <p:nvPr/>
        </p:nvSpPr>
        <p:spPr bwMode="auto">
          <a:xfrm>
            <a:off x="787367" y="1772105"/>
            <a:ext cx="707507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sz="1600" i="1" dirty="0">
                <a:latin typeface="+mn-lt"/>
              </a:rPr>
              <a:t>Table 9. Classification Dataset Summary per Source and Period (Threshold-Verified)</a:t>
            </a:r>
            <a:endParaRPr kumimoji="0" lang="en-US" altLang="en-US" sz="1100" b="0" i="1" u="none" strike="noStrike" cap="none" normalizeH="0" baseline="0" dirty="0">
              <a:ln>
                <a:noFill/>
              </a:ln>
              <a:solidFill>
                <a:schemeClr val="tx1"/>
              </a:solidFill>
              <a:effectLst/>
              <a:latin typeface="+mn-lt"/>
              <a:cs typeface="Arial" panose="020B0604020202020204" pitchFamily="34" charset="0"/>
            </a:endParaRPr>
          </a:p>
        </p:txBody>
      </p:sp>
      <p:sp>
        <p:nvSpPr>
          <p:cNvPr id="10" name="Rectangle 2">
            <a:extLst>
              <a:ext uri="{FF2B5EF4-FFF2-40B4-BE49-F238E27FC236}">
                <a16:creationId xmlns:a16="http://schemas.microsoft.com/office/drawing/2014/main" id="{8BD74D8B-9409-48C6-105A-173F55741D0E}"/>
              </a:ext>
            </a:extLst>
          </p:cNvPr>
          <p:cNvSpPr>
            <a:spLocks noChangeArrowheads="1"/>
          </p:cNvSpPr>
          <p:nvPr/>
        </p:nvSpPr>
        <p:spPr bwMode="auto">
          <a:xfrm>
            <a:off x="2853018" y="2169180"/>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br>
              <a:rPr kumimoji="0" lang="en-US" sz="1800" b="0" i="0" u="none" strike="noStrike" cap="none" normalizeH="0" baseline="0" dirty="0">
                <a:ln>
                  <a:noFill/>
                </a:ln>
                <a:solidFill>
                  <a:schemeClr val="tx1"/>
                </a:solidFill>
                <a:effectLst/>
                <a:latin typeface="Arial" panose="020B0604020202020204" pitchFamily="34" charset="0"/>
              </a:rPr>
            </a:br>
            <a:endParaRPr kumimoji="0" 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F5A73709-FA1D-B23F-6F62-04AF312F7FAA}"/>
              </a:ext>
            </a:extLst>
          </p:cNvPr>
          <p:cNvPicPr>
            <a:picLocks noChangeAspect="1"/>
          </p:cNvPicPr>
          <p:nvPr/>
        </p:nvPicPr>
        <p:blipFill>
          <a:blip r:embed="rId3"/>
          <a:stretch>
            <a:fillRect/>
          </a:stretch>
        </p:blipFill>
        <p:spPr>
          <a:xfrm>
            <a:off x="3037749" y="2068171"/>
            <a:ext cx="6133127" cy="2922628"/>
          </a:xfrm>
          <a:prstGeom prst="rect">
            <a:avLst/>
          </a:prstGeom>
        </p:spPr>
      </p:pic>
      <p:pic>
        <p:nvPicPr>
          <p:cNvPr id="11" name="Picture 10">
            <a:extLst>
              <a:ext uri="{FF2B5EF4-FFF2-40B4-BE49-F238E27FC236}">
                <a16:creationId xmlns:a16="http://schemas.microsoft.com/office/drawing/2014/main" id="{D72290FD-3C48-3FE4-2AFD-CCAC5C7CC56D}"/>
              </a:ext>
            </a:extLst>
          </p:cNvPr>
          <p:cNvPicPr>
            <a:picLocks noChangeAspect="1"/>
          </p:cNvPicPr>
          <p:nvPr/>
        </p:nvPicPr>
        <p:blipFill>
          <a:blip r:embed="rId4"/>
          <a:stretch>
            <a:fillRect/>
          </a:stretch>
        </p:blipFill>
        <p:spPr>
          <a:xfrm>
            <a:off x="3054374" y="4924299"/>
            <a:ext cx="6116502" cy="1717634"/>
          </a:xfrm>
          <a:prstGeom prst="rect">
            <a:avLst/>
          </a:prstGeom>
        </p:spPr>
      </p:pic>
    </p:spTree>
    <p:extLst>
      <p:ext uri="{BB962C8B-B14F-4D97-AF65-F5344CB8AC3E}">
        <p14:creationId xmlns:p14="http://schemas.microsoft.com/office/powerpoint/2010/main" val="41896318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83BA999-3C1B-6E77-5CF8-E39BBE2B40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572BD44-4DED-6C23-CA90-4D8C2206EDF8}"/>
              </a:ext>
            </a:extLst>
          </p:cNvPr>
          <p:cNvSpPr txBox="1"/>
          <p:nvPr/>
        </p:nvSpPr>
        <p:spPr>
          <a:xfrm>
            <a:off x="618836" y="495476"/>
            <a:ext cx="9884229" cy="1077218"/>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SYSTEM PERFORMANCE, RELEVANT GRAPHS AND FIGURES, ANALYSIS</a:t>
            </a:r>
          </a:p>
        </p:txBody>
      </p:sp>
      <p:sp>
        <p:nvSpPr>
          <p:cNvPr id="3" name="Google Shape;104;p2">
            <a:extLst>
              <a:ext uri="{FF2B5EF4-FFF2-40B4-BE49-F238E27FC236}">
                <a16:creationId xmlns:a16="http://schemas.microsoft.com/office/drawing/2014/main" id="{FDECB717-3FF0-4B24-A419-344B8ABC8FB9}"/>
              </a:ext>
            </a:extLst>
          </p:cNvPr>
          <p:cNvSpPr txBox="1"/>
          <p:nvPr/>
        </p:nvSpPr>
        <p:spPr>
          <a:xfrm>
            <a:off x="618835" y="0"/>
            <a:ext cx="92585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1">
            <a:extLst>
              <a:ext uri="{FF2B5EF4-FFF2-40B4-BE49-F238E27FC236}">
                <a16:creationId xmlns:a16="http://schemas.microsoft.com/office/drawing/2014/main" id="{10E05908-4FE6-DF77-460B-6D59CDB37F91}"/>
              </a:ext>
            </a:extLst>
          </p:cNvPr>
          <p:cNvSpPr>
            <a:spLocks noChangeArrowheads="1"/>
          </p:cNvSpPr>
          <p:nvPr/>
        </p:nvSpPr>
        <p:spPr bwMode="auto">
          <a:xfrm>
            <a:off x="3286125" y="22177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F1435550-B32E-2513-FF8F-BA98E59C05A6}"/>
              </a:ext>
            </a:extLst>
          </p:cNvPr>
          <p:cNvSpPr>
            <a:spLocks noChangeArrowheads="1"/>
          </p:cNvSpPr>
          <p:nvPr/>
        </p:nvSpPr>
        <p:spPr bwMode="auto">
          <a:xfrm>
            <a:off x="787367" y="1655728"/>
            <a:ext cx="7076168"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sz="1600" i="1" dirty="0">
                <a:latin typeface="+mn-lt"/>
              </a:rPr>
              <a:t>Table 10. System Performance Metrics per Period (Threshold-Verified Ground Truth)</a:t>
            </a:r>
            <a:endParaRPr kumimoji="0" lang="en-US" altLang="en-US" sz="1050" b="0" i="1" u="none" strike="noStrike" cap="none" normalizeH="0" baseline="0" dirty="0">
              <a:ln>
                <a:noFill/>
              </a:ln>
              <a:solidFill>
                <a:schemeClr val="tx1"/>
              </a:solidFill>
              <a:effectLst/>
              <a:latin typeface="+mn-lt"/>
              <a:cs typeface="Arial" panose="020B0604020202020204" pitchFamily="34" charset="0"/>
            </a:endParaRPr>
          </a:p>
        </p:txBody>
      </p:sp>
      <p:sp>
        <p:nvSpPr>
          <p:cNvPr id="10" name="Rectangle 2">
            <a:extLst>
              <a:ext uri="{FF2B5EF4-FFF2-40B4-BE49-F238E27FC236}">
                <a16:creationId xmlns:a16="http://schemas.microsoft.com/office/drawing/2014/main" id="{CB0C8D6F-83D3-C139-47EE-7CCC9A369210}"/>
              </a:ext>
            </a:extLst>
          </p:cNvPr>
          <p:cNvSpPr>
            <a:spLocks noChangeArrowheads="1"/>
          </p:cNvSpPr>
          <p:nvPr/>
        </p:nvSpPr>
        <p:spPr bwMode="auto">
          <a:xfrm>
            <a:off x="2853018" y="2169180"/>
            <a:ext cx="1847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pPr>
            <a:br>
              <a:rPr kumimoji="0" lang="en-US" sz="1800" b="0" i="0" u="none" strike="noStrike" cap="none" normalizeH="0" baseline="0" dirty="0">
                <a:ln>
                  <a:noFill/>
                </a:ln>
                <a:solidFill>
                  <a:schemeClr val="tx1"/>
                </a:solidFill>
                <a:effectLst/>
                <a:latin typeface="Arial" panose="020B0604020202020204" pitchFamily="34" charset="0"/>
              </a:rPr>
            </a:br>
            <a:endParaRPr kumimoji="0" 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05374ECB-8B19-73CC-4ADC-B8B7E62037AB}"/>
              </a:ext>
            </a:extLst>
          </p:cNvPr>
          <p:cNvPicPr>
            <a:picLocks noChangeAspect="1"/>
          </p:cNvPicPr>
          <p:nvPr/>
        </p:nvPicPr>
        <p:blipFill>
          <a:blip r:embed="rId3"/>
          <a:stretch>
            <a:fillRect/>
          </a:stretch>
        </p:blipFill>
        <p:spPr>
          <a:xfrm>
            <a:off x="2791822" y="2035886"/>
            <a:ext cx="6608355" cy="4294354"/>
          </a:xfrm>
          <a:prstGeom prst="rect">
            <a:avLst/>
          </a:prstGeom>
        </p:spPr>
      </p:pic>
    </p:spTree>
    <p:extLst>
      <p:ext uri="{BB962C8B-B14F-4D97-AF65-F5344CB8AC3E}">
        <p14:creationId xmlns:p14="http://schemas.microsoft.com/office/powerpoint/2010/main" val="41946161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741697"/>
            <a:ext cx="9884229" cy="584775"/>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FINDINGS</a:t>
            </a:r>
          </a:p>
        </p:txBody>
      </p:sp>
      <p:sp>
        <p:nvSpPr>
          <p:cNvPr id="3" name="Google Shape;104;p2"/>
          <p:cNvSpPr txBox="1"/>
          <p:nvPr/>
        </p:nvSpPr>
        <p:spPr>
          <a:xfrm>
            <a:off x="618835" y="0"/>
            <a:ext cx="89156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2" name="Rectangle 1">
            <a:extLst>
              <a:ext uri="{FF2B5EF4-FFF2-40B4-BE49-F238E27FC236}">
                <a16:creationId xmlns:a16="http://schemas.microsoft.com/office/drawing/2014/main" id="{83970E33-F66D-4F05-F129-FB3BF25717E1}"/>
              </a:ext>
            </a:extLst>
          </p:cNvPr>
          <p:cNvSpPr/>
          <p:nvPr/>
        </p:nvSpPr>
        <p:spPr>
          <a:xfrm>
            <a:off x="618835" y="1326472"/>
            <a:ext cx="11030239" cy="4661276"/>
          </a:xfrm>
          <a:prstGeom prst="rect">
            <a:avLst/>
          </a:prstGeom>
        </p:spPr>
        <p:txBody>
          <a:bodyPr wrap="square">
            <a:spAutoFit/>
          </a:bodyPr>
          <a:lstStyle/>
          <a:p>
            <a:pPr algn="just">
              <a:lnSpc>
                <a:spcPct val="150000"/>
              </a:lnSpc>
            </a:pPr>
            <a:r>
              <a:rPr lang="en-US" sz="2000" dirty="0"/>
              <a:t>	The study successfully developed and deployed a real-time anomaly detection system for hybrid power operation that monitored AC and DC voltage across four sources — utility grid, inverter AC output, solar photovoltaic panels, and battery storage. Controlled prototype testing confirmed the system correctly identified all simulated voltage conditions before field deployment. Over a 14-day monitoring period split into no-load (April 24–30) and with-load (May 3–10) phases, the system logged over 400,000 readings and classified 30,611 anomaly events, with dropout anomalies being the most dominant at 83.93% of all detected events. The solar PV source was the most consistently affected, primarily due to declining irradiance in the late afternoon and evening. Notably, the with-load phase showed improved overall stability at 92.98% normal readings compared to 89.99% during no-load, and the system achieved an overall accuracy of 97.71% and an F1-score of 91.15%.</a:t>
            </a:r>
            <a:endParaRPr lang="en-US" sz="2400" dirty="0"/>
          </a:p>
        </p:txBody>
      </p:sp>
    </p:spTree>
    <p:extLst>
      <p:ext uri="{BB962C8B-B14F-4D97-AF65-F5344CB8AC3E}">
        <p14:creationId xmlns:p14="http://schemas.microsoft.com/office/powerpoint/2010/main" val="39274486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741697"/>
            <a:ext cx="9884229" cy="584775"/>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CONCLUSIONS</a:t>
            </a:r>
          </a:p>
        </p:txBody>
      </p:sp>
      <p:sp>
        <p:nvSpPr>
          <p:cNvPr id="3" name="Google Shape;104;p2"/>
          <p:cNvSpPr txBox="1"/>
          <p:nvPr/>
        </p:nvSpPr>
        <p:spPr>
          <a:xfrm>
            <a:off x="618835" y="0"/>
            <a:ext cx="89156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2" name="Rectangle 1">
            <a:extLst>
              <a:ext uri="{FF2B5EF4-FFF2-40B4-BE49-F238E27FC236}">
                <a16:creationId xmlns:a16="http://schemas.microsoft.com/office/drawing/2014/main" id="{4FF9C544-AD83-13F3-7D8E-7FD082AE4A74}"/>
              </a:ext>
            </a:extLst>
          </p:cNvPr>
          <p:cNvSpPr/>
          <p:nvPr/>
        </p:nvSpPr>
        <p:spPr>
          <a:xfrm>
            <a:off x="618835" y="1326472"/>
            <a:ext cx="11030239" cy="4661276"/>
          </a:xfrm>
          <a:prstGeom prst="rect">
            <a:avLst/>
          </a:prstGeom>
        </p:spPr>
        <p:txBody>
          <a:bodyPr wrap="square">
            <a:spAutoFit/>
          </a:bodyPr>
          <a:lstStyle/>
          <a:p>
            <a:pPr algn="just">
              <a:lnSpc>
                <a:spcPct val="150000"/>
              </a:lnSpc>
            </a:pPr>
            <a:r>
              <a:rPr lang="en-US" sz="2000" dirty="0"/>
              <a:t>	The system effectively fulfilled its core objectives, delivering continuous voltage monitoring, rule-based anomaly classification, real-time visualization, and automated alerts throughout actual field deployment. The rule-based approach using voltage magnitude, rate of change, and persistence-based evaluation proved to be a functionally sound and interpretable method for distinguishing between normal and abnormal voltage conditions. The behavioral patterns observed across both phases confirmed that solar PV dropouts and utility grid undervoltage were the most recurring disturbances, while the hybrid inverter consistently maintained stable output. The presence of a connected load actually helped stabilize voltage behavior in the battery and inverter subsystems, and the system's stronger performance during the with-load phase further validated the reliability of the detection logic under real operating conditions.</a:t>
            </a:r>
            <a:endParaRPr lang="en-US" sz="2400" dirty="0"/>
          </a:p>
        </p:txBody>
      </p:sp>
    </p:spTree>
    <p:extLst>
      <p:ext uri="{BB962C8B-B14F-4D97-AF65-F5344CB8AC3E}">
        <p14:creationId xmlns:p14="http://schemas.microsoft.com/office/powerpoint/2010/main" val="18695829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18836" y="741697"/>
            <a:ext cx="9884229" cy="584775"/>
          </a:xfrm>
          <a:prstGeom prst="rect">
            <a:avLst/>
          </a:prstGeom>
          <a:noFill/>
        </p:spPr>
        <p:txBody>
          <a:bodyPr wrap="square" rtlCol="0" anchor="ctr">
            <a:spAutoFit/>
          </a:bodyPr>
          <a:lstStyle/>
          <a:p>
            <a:pPr lvl="0">
              <a:defRPr/>
            </a:pPr>
            <a:r>
              <a:rPr lang="en-US" sz="3200" b="1" dirty="0">
                <a:solidFill>
                  <a:srgbClr val="1D3784"/>
                </a:solidFill>
                <a:latin typeface="Century Gothic" panose="020B0502020202020204" pitchFamily="34" charset="0"/>
                <a:cs typeface="Arial" panose="020B0604020202020204" pitchFamily="34" charset="0"/>
              </a:rPr>
              <a:t>RECOMMENDATIONS</a:t>
            </a:r>
          </a:p>
        </p:txBody>
      </p:sp>
      <p:sp>
        <p:nvSpPr>
          <p:cNvPr id="3" name="Google Shape;104;p2"/>
          <p:cNvSpPr txBox="1"/>
          <p:nvPr/>
        </p:nvSpPr>
        <p:spPr>
          <a:xfrm>
            <a:off x="618835" y="0"/>
            <a:ext cx="89156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
        <p:nvSpPr>
          <p:cNvPr id="5" name="Rectangle 4"/>
          <p:cNvSpPr/>
          <p:nvPr/>
        </p:nvSpPr>
        <p:spPr>
          <a:xfrm>
            <a:off x="618836" y="1161140"/>
            <a:ext cx="11030239" cy="5686428"/>
          </a:xfrm>
          <a:prstGeom prst="rect">
            <a:avLst/>
          </a:prstGeom>
        </p:spPr>
        <p:txBody>
          <a:bodyPr wrap="square">
            <a:spAutoFit/>
          </a:bodyPr>
          <a:lstStyle/>
          <a:p>
            <a:pPr algn="just">
              <a:lnSpc>
                <a:spcPct val="150000"/>
              </a:lnSpc>
            </a:pPr>
            <a:r>
              <a:rPr lang="en-US" sz="2000" dirty="0"/>
              <a:t>	</a:t>
            </a:r>
            <a:r>
              <a:rPr lang="en-US" sz="1600" dirty="0"/>
              <a:t>The study recommends that the spike detection logic for the Inverter and Solar PV sources be reviewed and corrected to strictly enforce the defined percentage-based ΔV thresholds 5% and 10% of nominal voltage respectively  to eliminate false positive detections, and that the drift detection rule for the Grid source be corrected to evaluate sustained deviation rate over the defined time window rather than triggering on instantaneous voltage magnitude, consistent with the operational definition of drift as a gradual and persistent condition; additionally, strict floating-point boundary comparison should be applied across all sources to prevent classification inconsistencies at threshold edges, particularly for borderline dropout readings near the warning thresholds of the Grid and Inverter sources. Beyond these technical refinements, subsequent studies should extend the monitoring duration across multiple weeks or months to capture seasonal variations in solar generation, a wider range of utility supply behaviors, and more diverse environmental and load conditions to support more statistically robust performance evaluation, while future research should explore the integration or comparative evaluation of machine learning and deep learning methods alongside the rule-based approach to assess whether adaptive detection models can improve recall performance, particularly for anomaly types exhibiting borderline or gradual threshold violations such as those observed in grid undervoltage conditions. Finally, the system should be deployed and evaluated in other hybrid power configurations, including setups incorporating wind energy, lithium-based battery storage, different inverter technologies, or multiple utility feeders, to validate its generalizability and practical scalability beyond the specific hybrid system evaluated in this study.</a:t>
            </a:r>
            <a:endParaRPr lang="en-US" sz="2400" dirty="0"/>
          </a:p>
        </p:txBody>
      </p:sp>
    </p:spTree>
    <p:extLst>
      <p:ext uri="{BB962C8B-B14F-4D97-AF65-F5344CB8AC3E}">
        <p14:creationId xmlns:p14="http://schemas.microsoft.com/office/powerpoint/2010/main" val="6458738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D06549D-7BDC-D7DA-FB97-EE211F5C07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189C33-CB7F-EF98-FDA0-D09D2D33DC68}"/>
              </a:ext>
            </a:extLst>
          </p:cNvPr>
          <p:cNvSpPr txBox="1"/>
          <p:nvPr/>
        </p:nvSpPr>
        <p:spPr>
          <a:xfrm>
            <a:off x="630411" y="2548405"/>
            <a:ext cx="11233640" cy="1323439"/>
          </a:xfrm>
          <a:prstGeom prst="rect">
            <a:avLst/>
          </a:prstGeom>
          <a:noFill/>
        </p:spPr>
        <p:txBody>
          <a:bodyPr wrap="square" rtlCol="0" anchor="ctr">
            <a:spAutoFit/>
          </a:bodyPr>
          <a:lstStyle/>
          <a:p>
            <a:pPr lvl="0" algn="ctr">
              <a:defRPr/>
            </a:pPr>
            <a:r>
              <a:rPr lang="en-US" sz="8000" b="1" dirty="0">
                <a:solidFill>
                  <a:srgbClr val="1D3784"/>
                </a:solidFill>
                <a:latin typeface="Century Gothic" panose="020B0502020202020204" pitchFamily="34" charset="0"/>
                <a:cs typeface="Arial" panose="020B0604020202020204" pitchFamily="34" charset="0"/>
              </a:rPr>
              <a:t>THANK YOU!</a:t>
            </a:r>
          </a:p>
        </p:txBody>
      </p:sp>
      <p:sp>
        <p:nvSpPr>
          <p:cNvPr id="3" name="Google Shape;104;p2"/>
          <p:cNvSpPr txBox="1"/>
          <p:nvPr/>
        </p:nvSpPr>
        <p:spPr>
          <a:xfrm>
            <a:off x="618835" y="0"/>
            <a:ext cx="89156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DESIGN AND DEVELOPMENT OF EQUILOCK – AN INNOVATIVE AUTOMATED OFFICE EQUIPMENT VAULT WITH KIOSK INTERFACE FOR COLLEGE OF ENGINEERING</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CAMACHO, DE CASTRO, LLARENA, TENORIO</a:t>
            </a:r>
          </a:p>
        </p:txBody>
      </p:sp>
    </p:spTree>
    <p:extLst>
      <p:ext uri="{BB962C8B-B14F-4D97-AF65-F5344CB8AC3E}">
        <p14:creationId xmlns:p14="http://schemas.microsoft.com/office/powerpoint/2010/main" val="42574421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B241D8D-519A-828F-E833-F73F141FAB79}"/>
            </a:ext>
          </a:extLst>
        </p:cNvPr>
        <p:cNvGrpSpPr/>
        <p:nvPr/>
      </p:nvGrpSpPr>
      <p:grpSpPr>
        <a:xfrm>
          <a:off x="0" y="0"/>
          <a:ext cx="0" cy="0"/>
          <a:chOff x="0" y="0"/>
          <a:chExt cx="0" cy="0"/>
        </a:xfrm>
      </p:grpSpPr>
      <p:sp>
        <p:nvSpPr>
          <p:cNvPr id="3" name="Google Shape;104;p2">
            <a:extLst>
              <a:ext uri="{FF2B5EF4-FFF2-40B4-BE49-F238E27FC236}">
                <a16:creationId xmlns:a16="http://schemas.microsoft.com/office/drawing/2014/main" id="{61D6FB60-79A7-0442-A669-C71207DC65E1}"/>
              </a:ext>
            </a:extLst>
          </p:cNvPr>
          <p:cNvSpPr txBox="1"/>
          <p:nvPr/>
        </p:nvSpPr>
        <p:spPr>
          <a:xfrm>
            <a:off x="618835" y="0"/>
            <a:ext cx="89156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DESIGN AND DEVELOPMENT OF EQUILOCK – AN INNOVATIVE AUTOMATED OFFICE EQUIPMENT VAULT WITH KIOSK INTERFACE FOR COLLEGE OF ENGINEERING</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CAMACHO, DE CASTRO, LLARENA, TENORIO</a:t>
            </a:r>
          </a:p>
        </p:txBody>
      </p:sp>
    </p:spTree>
    <p:extLst>
      <p:ext uri="{BB962C8B-B14F-4D97-AF65-F5344CB8AC3E}">
        <p14:creationId xmlns:p14="http://schemas.microsoft.com/office/powerpoint/2010/main" val="25582679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722003F-6A65-E967-71B6-4E2FCF6ACE14}"/>
            </a:ext>
          </a:extLst>
        </p:cNvPr>
        <p:cNvGrpSpPr/>
        <p:nvPr/>
      </p:nvGrpSpPr>
      <p:grpSpPr>
        <a:xfrm>
          <a:off x="0" y="0"/>
          <a:ext cx="0" cy="0"/>
          <a:chOff x="0" y="0"/>
          <a:chExt cx="0" cy="0"/>
        </a:xfrm>
      </p:grpSpPr>
      <p:sp>
        <p:nvSpPr>
          <p:cNvPr id="3" name="Google Shape;104;p2">
            <a:extLst>
              <a:ext uri="{FF2B5EF4-FFF2-40B4-BE49-F238E27FC236}">
                <a16:creationId xmlns:a16="http://schemas.microsoft.com/office/drawing/2014/main" id="{D2A9A5D3-FCE2-9952-F636-373FDDD3E4E7}"/>
              </a:ext>
            </a:extLst>
          </p:cNvPr>
          <p:cNvSpPr txBox="1"/>
          <p:nvPr/>
        </p:nvSpPr>
        <p:spPr>
          <a:xfrm>
            <a:off x="618835" y="0"/>
            <a:ext cx="89156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DESIGN AND DEVELOPMENT OF EQUILOCK – AN INNOVATIVE AUTOMATED OFFICE EQUIPMENT VAULT WITH KIOSK INTERFACE FOR COLLEGE OF ENGINEERING</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CAMACHO, DE CASTRO, LLARENA, TENORIO</a:t>
            </a:r>
          </a:p>
        </p:txBody>
      </p:sp>
    </p:spTree>
    <p:extLst>
      <p:ext uri="{BB962C8B-B14F-4D97-AF65-F5344CB8AC3E}">
        <p14:creationId xmlns:p14="http://schemas.microsoft.com/office/powerpoint/2010/main" val="29561257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F651C2D-E0D9-B502-6F9A-A4EBCDFE7249}"/>
            </a:ext>
          </a:extLst>
        </p:cNvPr>
        <p:cNvGrpSpPr/>
        <p:nvPr/>
      </p:nvGrpSpPr>
      <p:grpSpPr>
        <a:xfrm>
          <a:off x="0" y="0"/>
          <a:ext cx="0" cy="0"/>
          <a:chOff x="0" y="0"/>
          <a:chExt cx="0" cy="0"/>
        </a:xfrm>
      </p:grpSpPr>
      <p:sp>
        <p:nvSpPr>
          <p:cNvPr id="3" name="Google Shape;104;p2">
            <a:extLst>
              <a:ext uri="{FF2B5EF4-FFF2-40B4-BE49-F238E27FC236}">
                <a16:creationId xmlns:a16="http://schemas.microsoft.com/office/drawing/2014/main" id="{052788F2-17A3-53EA-EE65-E81F9CD2CDA3}"/>
              </a:ext>
            </a:extLst>
          </p:cNvPr>
          <p:cNvSpPr txBox="1"/>
          <p:nvPr/>
        </p:nvSpPr>
        <p:spPr>
          <a:xfrm>
            <a:off x="618835" y="0"/>
            <a:ext cx="89156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DESIGN AND DEVELOPMENT OF EQUILOCK – AN INNOVATIVE AUTOMATED OFFICE EQUIPMENT VAULT WITH KIOSK INTERFACE FOR COLLEGE OF ENGINEERING</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CAMACHO, DE CASTRO, LLARENA, TENORIO</a:t>
            </a:r>
          </a:p>
        </p:txBody>
      </p:sp>
    </p:spTree>
    <p:extLst>
      <p:ext uri="{BB962C8B-B14F-4D97-AF65-F5344CB8AC3E}">
        <p14:creationId xmlns:p14="http://schemas.microsoft.com/office/powerpoint/2010/main" val="7951418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1C56606-F833-9455-D64C-960DFF1D5943}"/>
            </a:ext>
          </a:extLst>
        </p:cNvPr>
        <p:cNvGrpSpPr/>
        <p:nvPr/>
      </p:nvGrpSpPr>
      <p:grpSpPr>
        <a:xfrm>
          <a:off x="0" y="0"/>
          <a:ext cx="0" cy="0"/>
          <a:chOff x="0" y="0"/>
          <a:chExt cx="0" cy="0"/>
        </a:xfrm>
      </p:grpSpPr>
      <p:sp>
        <p:nvSpPr>
          <p:cNvPr id="3" name="Google Shape;104;p2">
            <a:extLst>
              <a:ext uri="{FF2B5EF4-FFF2-40B4-BE49-F238E27FC236}">
                <a16:creationId xmlns:a16="http://schemas.microsoft.com/office/drawing/2014/main" id="{78368BEE-CA5E-AB1D-1B64-BA053A01E5F5}"/>
              </a:ext>
            </a:extLst>
          </p:cNvPr>
          <p:cNvSpPr txBox="1"/>
          <p:nvPr/>
        </p:nvSpPr>
        <p:spPr>
          <a:xfrm>
            <a:off x="618835" y="0"/>
            <a:ext cx="89156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DESIGN AND DEVELOPMENT OF EQUILOCK – AN INNOVATIVE AUTOMATED OFFICE EQUIPMENT VAULT WITH KIOSK INTERFACE FOR COLLEGE OF ENGINEERING</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CAMACHO, DE CASTRO, LLARENA, TENORIO</a:t>
            </a:r>
          </a:p>
        </p:txBody>
      </p:sp>
    </p:spTree>
    <p:extLst>
      <p:ext uri="{BB962C8B-B14F-4D97-AF65-F5344CB8AC3E}">
        <p14:creationId xmlns:p14="http://schemas.microsoft.com/office/powerpoint/2010/main" val="11023337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6E551AB-62AE-A778-6432-F26DB628E9EC}"/>
            </a:ext>
          </a:extLst>
        </p:cNvPr>
        <p:cNvGrpSpPr/>
        <p:nvPr/>
      </p:nvGrpSpPr>
      <p:grpSpPr>
        <a:xfrm>
          <a:off x="0" y="0"/>
          <a:ext cx="0" cy="0"/>
          <a:chOff x="0" y="0"/>
          <a:chExt cx="0" cy="0"/>
        </a:xfrm>
      </p:grpSpPr>
      <p:sp>
        <p:nvSpPr>
          <p:cNvPr id="3" name="Google Shape;104;p2">
            <a:extLst>
              <a:ext uri="{FF2B5EF4-FFF2-40B4-BE49-F238E27FC236}">
                <a16:creationId xmlns:a16="http://schemas.microsoft.com/office/drawing/2014/main" id="{F1BDB7FD-56D4-B531-5445-0A3568077D47}"/>
              </a:ext>
            </a:extLst>
          </p:cNvPr>
          <p:cNvSpPr txBox="1"/>
          <p:nvPr/>
        </p:nvSpPr>
        <p:spPr>
          <a:xfrm>
            <a:off x="618835" y="0"/>
            <a:ext cx="8915689" cy="646497"/>
          </a:xfrm>
          <a:prstGeom prst="rect">
            <a:avLst/>
          </a:prstGeom>
          <a:noFill/>
          <a:ln>
            <a:noFill/>
          </a:ln>
        </p:spPr>
        <p:txBody>
          <a:bodyPr spcFirstLastPara="1" wrap="square" lIns="60950" tIns="30467" rIns="60950" bIns="30467" anchor="t" anchorCtr="0">
            <a:spAutoFit/>
          </a:bodyPr>
          <a:lstStyle/>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DESIGN AND DEVELOPMENT OF EQUILOCK – AN INNOVATIVE AUTOMATED OFFICE EQUIPMENT VAULT WITH KIOSK INTERFACE FOR COLLEGE OF ENGINEERING</a:t>
            </a:r>
          </a:p>
          <a:p>
            <a:pPr>
              <a:buClr>
                <a:srgbClr val="000000"/>
              </a:buClr>
            </a:pPr>
            <a:r>
              <a:rPr lang="en-US" sz="1267" b="1" dirty="0">
                <a:solidFill>
                  <a:srgbClr val="006160"/>
                </a:solidFill>
                <a:latin typeface="Century Gothic" panose="020B0502020202020204" pitchFamily="34" charset="0"/>
                <a:ea typeface="Arial Narrow"/>
                <a:cs typeface="Arial Narrow"/>
                <a:sym typeface="Arial Narrow"/>
              </a:rPr>
              <a:t>CAMACHO, DE CASTRO, LLARENA, TENORIO</a:t>
            </a:r>
          </a:p>
        </p:txBody>
      </p:sp>
    </p:spTree>
    <p:extLst>
      <p:ext uri="{BB962C8B-B14F-4D97-AF65-F5344CB8AC3E}">
        <p14:creationId xmlns:p14="http://schemas.microsoft.com/office/powerpoint/2010/main" val="27125342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573A8FA-04E4-FB46-3101-69C71D228B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EFA9AC-1A4E-5EFA-A0FD-E91EBA1ABB35}"/>
              </a:ext>
            </a:extLst>
          </p:cNvPr>
          <p:cNvSpPr txBox="1"/>
          <p:nvPr/>
        </p:nvSpPr>
        <p:spPr>
          <a:xfrm>
            <a:off x="479180" y="3100265"/>
            <a:ext cx="11233640" cy="1446550"/>
          </a:xfrm>
          <a:prstGeom prst="rect">
            <a:avLst/>
          </a:prstGeom>
          <a:noFill/>
        </p:spPr>
        <p:txBody>
          <a:bodyPr wrap="square" rtlCol="0" anchor="ctr">
            <a:spAutoFit/>
          </a:bodyPr>
          <a:lstStyle/>
          <a:p>
            <a:pPr lvl="0" algn="ctr">
              <a:defRPr/>
            </a:pPr>
            <a:r>
              <a:rPr lang="en-US" sz="8800" b="1" dirty="0">
                <a:solidFill>
                  <a:srgbClr val="1D3784"/>
                </a:solidFill>
                <a:latin typeface="Century Gothic" panose="020B0502020202020204" pitchFamily="34" charset="0"/>
                <a:cs typeface="Arial" panose="020B0604020202020204" pitchFamily="34" charset="0"/>
              </a:rPr>
              <a:t>Thesis Defended!</a:t>
            </a:r>
          </a:p>
        </p:txBody>
      </p:sp>
      <p:sp>
        <p:nvSpPr>
          <p:cNvPr id="3" name="Google Shape;104;p2">
            <a:extLst>
              <a:ext uri="{FF2B5EF4-FFF2-40B4-BE49-F238E27FC236}">
                <a16:creationId xmlns:a16="http://schemas.microsoft.com/office/drawing/2014/main" id="{52035E1B-C177-8172-1971-FD946FF088BD}"/>
              </a:ext>
            </a:extLst>
          </p:cNvPr>
          <p:cNvSpPr txBox="1"/>
          <p:nvPr/>
        </p:nvSpPr>
        <p:spPr>
          <a:xfrm>
            <a:off x="1789386" y="1396538"/>
            <a:ext cx="8915689" cy="1754300"/>
          </a:xfrm>
          <a:prstGeom prst="rect">
            <a:avLst/>
          </a:prstGeom>
          <a:noFill/>
          <a:ln>
            <a:noFill/>
          </a:ln>
        </p:spPr>
        <p:txBody>
          <a:bodyPr spcFirstLastPara="1" wrap="square" lIns="60950" tIns="30467" rIns="60950" bIns="30467" anchor="t" anchorCtr="0">
            <a:spAutoFit/>
          </a:bodyPr>
          <a:lstStyle/>
          <a:p>
            <a:pPr algn="ctr">
              <a:buClr>
                <a:srgbClr val="000000"/>
              </a:buClr>
            </a:pPr>
            <a:r>
              <a:rPr lang="en-US" sz="2400" b="1" dirty="0">
                <a:solidFill>
                  <a:srgbClr val="006160"/>
                </a:solidFill>
                <a:latin typeface="Century Gothic" panose="020B0502020202020204" pitchFamily="34" charset="0"/>
                <a:ea typeface="Arial Narrow"/>
                <a:cs typeface="Arial Narrow"/>
                <a:sym typeface="Arial Narrow"/>
              </a:rPr>
              <a:t>DEVELOPMENT AND PERFORMANCE EVALUATION OF A REAL-TIME ANOMALY DETECTION SYSTEM FOR HYBRID POWER OPERATION USING RULE-BASED SIGNAL ANALYSIS</a:t>
            </a:r>
          </a:p>
          <a:p>
            <a:pPr algn="ctr">
              <a:buClr>
                <a:srgbClr val="000000"/>
              </a:buClr>
            </a:pPr>
            <a:endParaRPr lang="en-US" sz="2400" b="1" dirty="0">
              <a:solidFill>
                <a:srgbClr val="006160"/>
              </a:solidFill>
              <a:latin typeface="Century Gothic" panose="020B0502020202020204" pitchFamily="34" charset="0"/>
              <a:ea typeface="Arial Narrow"/>
              <a:cs typeface="Arial Narrow"/>
              <a:sym typeface="Arial Narrow"/>
            </a:endParaRPr>
          </a:p>
          <a:p>
            <a:pPr algn="ctr">
              <a:buClr>
                <a:srgbClr val="000000"/>
              </a:buClr>
            </a:pPr>
            <a:r>
              <a:rPr lang="en-US" sz="1400" b="1" dirty="0">
                <a:solidFill>
                  <a:srgbClr val="006160"/>
                </a:solidFill>
                <a:latin typeface="Century Gothic" panose="020B0502020202020204" pitchFamily="34" charset="0"/>
                <a:ea typeface="Arial Narrow"/>
                <a:cs typeface="Arial Narrow"/>
                <a:sym typeface="Arial Narrow"/>
              </a:rPr>
              <a:t>ANDES, BUENAVENTURA, CALIMUTAN, CORDONATO, MANGUIAT, OCLARINO, OROZCO, RAZON</a:t>
            </a:r>
          </a:p>
        </p:txBody>
      </p:sp>
    </p:spTree>
    <p:extLst>
      <p:ext uri="{BB962C8B-B14F-4D97-AF65-F5344CB8AC3E}">
        <p14:creationId xmlns:p14="http://schemas.microsoft.com/office/powerpoint/2010/main" val="1770682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8050</TotalTime>
  <Words>4149</Words>
  <Application>Microsoft Office PowerPoint</Application>
  <PresentationFormat>Widescreen</PresentationFormat>
  <Paragraphs>319</Paragraphs>
  <Slides>63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Arial MT</vt:lpstr>
      <vt:lpstr>Arial Narrow</vt:lpstr>
      <vt:lpstr>Calibri</vt:lpstr>
      <vt:lpstr>Calibri Light</vt:lpstr>
      <vt:lpstr>Cambria Math</vt:lpstr>
      <vt:lpstr>Century Gothic</vt:lpstr>
      <vt:lpstr>Vivaldi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Jv Buenaventura</cp:lastModifiedBy>
  <cp:revision>219</cp:revision>
  <cp:lastPrinted>2024-11-08T05:53:13Z</cp:lastPrinted>
  <dcterms:created xsi:type="dcterms:W3CDTF">2024-11-07T02:19:29Z</dcterms:created>
  <dcterms:modified xsi:type="dcterms:W3CDTF">2026-05-19T09:46:58Z</dcterms:modified>
</cp:coreProperties>
</file>